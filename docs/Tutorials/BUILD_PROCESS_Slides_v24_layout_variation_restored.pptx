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202020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02020"/>
                </a:solidFill>
              </a:defRPr>
            </a:pPr>
            <a:r>
              <a:t>SparseTagging Build Process Tutorial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6949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02020"/>
                </a:solidFill>
              </a:defRPr>
            </a:pPr>
            <a:r>
              <a:t>From configuration to artifacts in a production CI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02020"/>
                </a:solidFill>
              </a:defRPr>
            </a:pPr>
            <a:r>
              <a:t>Dr. Christopher Braun</a:t>
            </a:r>
          </a:p>
          <a:p>
            <a:pPr algn="ctr">
              <a:defRPr sz="1600">
                <a:solidFill>
                  <a:srgbClr val="202020"/>
                </a:solidFill>
              </a:defRPr>
            </a:pPr>
            <a:r>
              <a:t>MRSL,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02020"/>
                </a:solidFill>
              </a:defRPr>
            </a:pPr>
            <a:r>
              <a:t>© MRSL, Inc.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202020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020"/>
                </a:solidFill>
              </a:defRPr>
            </a:pPr>
            <a:r>
              <a:t>Audience, Scope, and Engineering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Audience: engineers onboarding to this build system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Goal is architectural understanding, not command memorization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Assumes baseline GitHub and CI/CD familiarity</a:t>
            </a:r>
          </a:p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Scope: full DevSecOps CI lifecycle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Configuration, services, workflows, execution, artifacts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Security boundaries and trust surfaces</a:t>
            </a:r>
          </a:p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LLMs used professionally as an enabling tool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Planned usage, review, testing, and iteration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Quality, correctness, and security are primary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560320" cy="50292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286000"/>
            <a:ext cx="2560320" cy="50292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Generate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2560320" cy="50292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566160"/>
            <a:ext cx="2560320" cy="50292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02020"/>
                </a:solidFill>
              </a:defRPr>
            </a:pPr>
            <a:r>
              <a:t>© MRSL, Inc.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Overview of the Entire Build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600200"/>
            <a:ext cx="2743200" cy="68580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Configuration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Defines behavior, permissions, environment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377440"/>
            <a:ext cx="2743200" cy="68580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External Services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GitHub, CI runners, secrets, registries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154680"/>
            <a:ext cx="2743200" cy="68580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Repository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Source, workflows, versioned inputs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931920"/>
            <a:ext cx="2743200" cy="68580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GitHub Flow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Triggers, PRs, security boundaries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709160"/>
            <a:ext cx="2743200" cy="68580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CI/CD Pipeline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Execution, validation, quality 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5486400"/>
            <a:ext cx="2743200" cy="68580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Artifacts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Versioned outputs consumed downstream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02020"/>
                </a:solidFill>
              </a:defRPr>
            </a:pPr>
            <a:r>
              <a:t>• Construction order matters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/>
            </a:pPr>
            <a:r>
              <a:t>• Upstream choices constrain downstream behavior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/>
            </a:pPr>
            <a:r>
              <a:t>• Failures surface late but originate early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/>
            </a:pPr>
            <a:r>
              <a:t>• Treat this diagram as the navigation map for the rest of the tutorial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/>
            </a:pPr>
            <a:r>
              <a:t>• Every later slide zooms into one region or boundary shown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69164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02020"/>
                </a:solidFill>
              </a:defRPr>
            </a:pPr>
            <a:r>
              <a:t>• Control plane vs execution plane separation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/>
            </a:pPr>
            <a:r>
              <a:t>• Trust boundaries enforced by tokens and scopes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/>
            </a:pPr>
            <a:r>
              <a:t>• Artifacts form the contract between CI and delivery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/>
            </a:pPr>
            <a:r>
              <a:t>• Observability path: workflow → job logs → artifacts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/>
            </a:pPr>
            <a:r>
              <a:t>• Least-privilege tokens: reduce scope and avoid leakage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70"/>
                </a:solidFill>
              </a:defRPr>
            </a:pPr>
            <a:r>
              <a:t>© MRSL, Inc.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202020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020"/>
                </a:solidFill>
              </a:defRPr>
            </a:pPr>
            <a:r>
              <a:t>Configuration Flow and Resolution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6949440" cy="3474720"/>
          </a:xfrm>
          <a:prstGeom prst="rect">
            <a:avLst/>
          </a:prstGeom>
          <a:solidFill>
            <a:srgbClr val="F0F0F0"/>
          </a:solidFill>
          <a:ln>
            <a:solidFill>
              <a:srgbClr val="20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02020"/>
                </a:solidFill>
              </a:defRPr>
            </a:pPr>
            <a:r>
              <a:t>INSERT: Rendered Mermaid Diagram</a:t>
            </a:r>
            <a:br/>
            <a:r>
              <a:t>(build_process_configuration_flow.png)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0352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This diagram is authoritative and comes directly from BUILD_PROCESS.md.</a:t>
            </a:r>
          </a:p>
          <a:p>
            <a:pPr>
              <a:defRPr>
                <a:solidFill>
                  <a:srgbClr val="202020"/>
                </a:solidFill>
              </a:defRPr>
            </a:pPr>
            <a:r>
              <a:t>The slide adds interpretation, not 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02020"/>
                </a:solidFill>
              </a:defRPr>
            </a:pPr>
            <a:r>
              <a:t>© MRSL, Inc. All rights 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020"/>
                </a:solidFill>
              </a:defRPr>
            </a:pPr>
            <a:r>
              <a:t>Overall Build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70"/>
                </a:solidFill>
              </a:defRPr>
            </a:pPr>
            <a:r>
              <a:t>© MRSL, Inc. All rights reserved.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863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The build process is a connected system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Stages depend on validated outputs from prior stages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Early mistakes propagate downstream</a:t>
            </a:r>
          </a:p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The tutorial follows this construction order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Each subsequent section maps to one stage here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410712"/>
          <a:ext cx="7863840" cy="236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2834640"/>
              </a:tblGrid>
              <a:tr h="412394"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Surface</a:t>
                      </a:r>
                    </a:p>
                  </a:txBody>
                  <a:tcPr>
                    <a:solidFill>
                      <a:srgbClr val="204A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What it controls</a:t>
                      </a:r>
                    </a:p>
                  </a:txBody>
                  <a:tcPr>
                    <a:solidFill>
                      <a:srgbClr val="204A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Where it fails</a:t>
                      </a:r>
                    </a:p>
                  </a:txBody>
                  <a:tcPr>
                    <a:solidFill>
                      <a:srgbClr val="204A6E"/>
                    </a:solidFill>
                  </a:tcPr>
                </a:tc>
              </a:tr>
              <a:tr h="487375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GitHub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Triggers, permissions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Workflow not running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</a:tr>
              <a:tr h="487375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Secrets/Tokens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Auth &amp; trust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Auth / scope errors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</a:tr>
              <a:tr h="487375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CI Runner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Execution env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Env-specific failures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</a:tr>
              <a:tr h="487375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Artifact store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Outputs/promotion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Missing/invalid artifacts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202020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020"/>
                </a:solidFill>
              </a:defRPr>
            </a:pPr>
            <a:r>
              <a:t>Configuration as a First-Class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Configuration defines system behavior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Job execution, permissions, environments, artifact paths</a:t>
            </a:r>
          </a:p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Configuration enables reuse and scale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Templates allow reuse across repos and environments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Behavior changes by modifying config, not code</a:t>
            </a:r>
          </a:p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Most failures trace back to configuration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Drift or mismatch across layers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Failures surface later in CI or artifacts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560320" cy="50292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Environment 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286000"/>
            <a:ext cx="2560320" cy="50292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CI Workflow Config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2560320" cy="50292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Repository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02020"/>
                </a:solidFill>
              </a:defRPr>
            </a:pPr>
            <a:r>
              <a:t>© MRSL, Inc.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External Services and Dependency Surfaces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291840" cy="54864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Repository Layout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645920"/>
            <a:ext cx="3474720" cy="548640"/>
          </a:xfrm>
          <a:prstGeom prst="roundRect">
            <a:avLst/>
          </a:prstGeom>
          <a:solidFill>
            <a:srgbClr val="E6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02020"/>
                </a:solidFill>
              </a:defRPr>
            </a:pPr>
            <a:r>
              <a:t>Defines CI job discovery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23160"/>
            <a:ext cx="3291840" cy="54864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Workflow 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423160"/>
            <a:ext cx="3474720" cy="548640"/>
          </a:xfrm>
          <a:prstGeom prst="roundRect">
            <a:avLst/>
          </a:prstGeom>
          <a:solidFill>
            <a:srgbClr val="E6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02020"/>
                </a:solidFill>
              </a:defRPr>
            </a:pPr>
            <a:r>
              <a:t>Control triggers and permissions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3291840" cy="54864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Version Metadata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3200400"/>
            <a:ext cx="3474720" cy="548640"/>
          </a:xfrm>
          <a:prstGeom prst="roundRect">
            <a:avLst/>
          </a:prstGeom>
          <a:solidFill>
            <a:srgbClr val="E6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02020"/>
                </a:solidFill>
              </a:defRPr>
            </a:pPr>
            <a:r>
              <a:t>Propagates into images and artifacts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77640"/>
            <a:ext cx="3291840" cy="54864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Test 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977640"/>
            <a:ext cx="3474720" cy="548640"/>
          </a:xfrm>
          <a:prstGeom prst="roundRect">
            <a:avLst/>
          </a:prstGeom>
          <a:solidFill>
            <a:srgbClr val="E6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02020"/>
                </a:solidFill>
              </a:defRPr>
            </a:pPr>
            <a:r>
              <a:t>Determines coverage and quality 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70"/>
                </a:solidFill>
              </a:defRPr>
            </a:pPr>
            <a:r>
              <a:t>© MRSL, Inc.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End-to-End Build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Configuration Inputs</a:t>
            </a:r>
          </a:p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Resolution Order</a:t>
            </a:r>
          </a:p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Reuse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55448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202020"/>
                </a:solidFill>
              </a:defRPr>
            </a:pPr>
            <a:r>
              <a:t>pyproject.toml, YAML, secrets, env vars</a:t>
            </a:r>
          </a:p>
          <a:p>
            <a:pPr>
              <a:spcBef>
                <a:spcPts val="1600"/>
              </a:spcBef>
              <a:defRPr sz="2000">
                <a:solidFill>
                  <a:srgbClr val="202020"/>
                </a:solidFill>
              </a:defRPr>
            </a:pPr>
            <a:r>
              <a:t>Static → environment → runtime</a:t>
            </a:r>
          </a:p>
          <a:p>
            <a:pPr>
              <a:spcBef>
                <a:spcPts val="1600"/>
              </a:spcBef>
              <a:defRPr sz="2000">
                <a:solidFill>
                  <a:srgbClr val="202020"/>
                </a:solidFill>
              </a:defRPr>
            </a:pPr>
            <a:r>
              <a:t>Change config, not code, to retarget builds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70"/>
                </a:solidFill>
              </a:defRPr>
            </a:pPr>
            <a:r>
              <a:t>© MRSL, Inc. All rights 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020"/>
                </a:solidFill>
              </a:defRPr>
            </a:pPr>
            <a:r>
              <a:t>Repository Structure and Build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70"/>
                </a:solidFill>
              </a:defRPr>
            </a:pPr>
            <a:r>
              <a:t>© MRSL, Inc. All rights reserved.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863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The repository defines all build inputs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Source, configuration, workflows, metadata</a:t>
            </a:r>
          </a:p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Repository structure encodes invariants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What is versioned, validated, and promoted</a:t>
            </a:r>
          </a:p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Structural changes have system-wide impact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Can affect CI, security, and artifacts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108960"/>
          <a:ext cx="7863840" cy="236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2834640"/>
              </a:tblGrid>
              <a:tr h="412394"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204A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204A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Observable in</a:t>
                      </a:r>
                    </a:p>
                  </a:txBody>
                  <a:tcPr>
                    <a:solidFill>
                      <a:srgbClr val="204A6E"/>
                    </a:solidFill>
                  </a:tcPr>
                </a:tc>
              </a:tr>
              <a:tr h="487375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Init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Runner + env setup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Runner logs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</a:tr>
              <a:tr h="487375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Setup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Deps/config resolved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Step logs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</a:tr>
              <a:tr h="487375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Execute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Build/test/scan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Step output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</a:tr>
              <a:tr h="487375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Validate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Quality gates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Checks/status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202020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020"/>
                </a:solidFill>
              </a:defRPr>
            </a:pPr>
            <a:r>
              <a:t>GitHub Flow and Security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GitHub acts as control plane and security boundary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PRs, branches, and events control execution</a:t>
            </a:r>
          </a:p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Permissions and tokens determine capabilities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Scopes are intentionally minimized</a:t>
            </a:r>
          </a:p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Many security failures originate here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Incorrect triggers or token scopes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560320" cy="50292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Contributor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286000"/>
            <a:ext cx="2560320" cy="50292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Pull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2560320" cy="50292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Workflow Trigger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566160"/>
            <a:ext cx="2560320" cy="50292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Token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02020"/>
                </a:solidFill>
              </a:defRPr>
            </a:pPr>
            <a:r>
              <a:t>© MRSL, Inc. All rights 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020"/>
                </a:solidFill>
              </a:defRPr>
            </a:pPr>
            <a:r>
              <a:t>CI/CD Pipeline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70"/>
                </a:solidFill>
              </a:defRPr>
            </a:pPr>
            <a:r>
              <a:t>© MRSL, Inc. All rights reserved.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863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CI/CD executes workflows in controlled environments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Runners provide isolation and reproducibility</a:t>
            </a:r>
          </a:p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Execution order is explicit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Steps fail fast on invalid state</a:t>
            </a:r>
          </a:p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Environment parity is critical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Differences cause non-reproducible failures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108960"/>
          <a:ext cx="7863840" cy="236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2834640"/>
              </a:tblGrid>
              <a:tr h="412394"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Where you look</a:t>
                      </a:r>
                    </a:p>
                  </a:txBody>
                  <a:tcPr>
                    <a:solidFill>
                      <a:srgbClr val="204A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What it tells you</a:t>
                      </a:r>
                    </a:p>
                  </a:txBody>
                  <a:tcPr>
                    <a:solidFill>
                      <a:srgbClr val="204A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Typical root cause</a:t>
                      </a:r>
                    </a:p>
                  </a:txBody>
                  <a:tcPr>
                    <a:solidFill>
                      <a:srgbClr val="204A6E"/>
                    </a:solidFill>
                  </a:tcPr>
                </a:tc>
              </a:tr>
              <a:tr h="487375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Workflow page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Triggered? correct branch?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Triggers/permissions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</a:tr>
              <a:tr h="487375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Job logs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Which step failed?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Config/env mismatch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</a:tr>
              <a:tr h="487375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Artifacts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Outputs produced?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Earlier stage failure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</a:tr>
              <a:tr h="487375"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Security scan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Policy failure?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 b="1">
                          <a:solidFill>
                            <a:srgbClr val="202020"/>
                          </a:solidFill>
                        </a:defRPr>
                      </a:pPr>
                      <a:r>
                        <a:t>Severity/gate config</a:t>
                      </a:r>
                    </a:p>
                  </a:txBody>
                  <a:tcPr>
                    <a:solidFill>
                      <a:srgbClr val="E6EE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202020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020"/>
                </a:solidFill>
              </a:defRPr>
            </a:pPr>
            <a:r>
              <a:t>Artifact Creation and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Artifacts are the primary build output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Versioned, immutable, and traceable</a:t>
            </a:r>
          </a:p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Artifacts connect CI to downstream systems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Release, deployment, validation</a:t>
            </a:r>
          </a:p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Incorrect artifacts are critical failures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Must be detected before promotion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560320" cy="50292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Build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286000"/>
            <a:ext cx="2560320" cy="50292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Version Tagging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2560320" cy="50292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Storage / Registry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566160"/>
            <a:ext cx="2560320" cy="50292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02020"/>
                </a:solidFill>
              </a:defRPr>
            </a:pPr>
            <a:r>
              <a:t>© MRSL, Inc. All rights reserved.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t>Troubleshooting Surfaces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291840" cy="54864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Build Outputs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645920"/>
            <a:ext cx="3474720" cy="548640"/>
          </a:xfrm>
          <a:prstGeom prst="roundRect">
            <a:avLst/>
          </a:prstGeom>
          <a:solidFill>
            <a:srgbClr val="E6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02020"/>
                </a:solidFill>
              </a:defRPr>
            </a:pPr>
            <a:r>
              <a:t>Consumed by downstream stages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23160"/>
            <a:ext cx="3291840" cy="54864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Container Images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423160"/>
            <a:ext cx="3474720" cy="548640"/>
          </a:xfrm>
          <a:prstGeom prst="roundRect">
            <a:avLst/>
          </a:prstGeom>
          <a:solidFill>
            <a:srgbClr val="E6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02020"/>
                </a:solidFill>
              </a:defRPr>
            </a:pPr>
            <a:r>
              <a:t>Tagged, scanned, and promoted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3291840" cy="54864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3200400"/>
            <a:ext cx="3474720" cy="548640"/>
          </a:xfrm>
          <a:prstGeom prst="roundRect">
            <a:avLst/>
          </a:prstGeom>
          <a:solidFill>
            <a:srgbClr val="E6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02020"/>
                </a:solidFill>
              </a:defRPr>
            </a:pPr>
            <a:r>
              <a:t>Used for gates and audits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77640"/>
            <a:ext cx="3291840" cy="54864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977640"/>
            <a:ext cx="3474720" cy="548640"/>
          </a:xfrm>
          <a:prstGeom prst="roundRect">
            <a:avLst/>
          </a:prstGeom>
          <a:solidFill>
            <a:srgbClr val="E6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02020"/>
                </a:solidFill>
              </a:defRPr>
            </a:pPr>
            <a:r>
              <a:t>Primary troubleshooting 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70"/>
                </a:solidFill>
              </a:defRPr>
            </a:pPr>
            <a:r>
              <a:t>© MRSL, Inc. All rights reserved.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202020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020"/>
                </a:solidFill>
              </a:defRPr>
            </a:pPr>
            <a:r>
              <a:t>End-to-End Flow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The build process is a connected system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Configuration, services, workflows, and execution are coupled</a:t>
            </a:r>
          </a:p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Early decisions propagate downstream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Understanding the full flow prevents subtle failures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560320" cy="50292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286000"/>
            <a:ext cx="2560320" cy="50292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2560320" cy="50292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566160"/>
            <a:ext cx="2560320" cy="50292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GitHub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2560320" cy="50292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CI/CD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846320"/>
            <a:ext cx="2560320" cy="502920"/>
          </a:xfrm>
          <a:prstGeom prst="roundRect">
            <a:avLst/>
          </a:prstGeom>
          <a:solidFill>
            <a:srgbClr val="2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Artifacts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02020"/>
                </a:solidFill>
              </a:defRPr>
            </a:pPr>
            <a:r>
              <a:t>© MRSL, Inc. All rights reserved.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202020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02020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The build process is a system, not a script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Understand relationships, not just steps</a:t>
            </a:r>
          </a:p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Configuration is leverage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Templates and reuse enable scale</a:t>
            </a:r>
          </a:p>
          <a:p>
            <a:pPr>
              <a:spcBef>
                <a:spcPts val="1800"/>
              </a:spcBef>
              <a:defRPr sz="2200" b="1">
                <a:solidFill>
                  <a:srgbClr val="202020"/>
                </a:solidFill>
              </a:defRPr>
            </a:pPr>
            <a:r>
              <a:t>• Automation enables quality</a:t>
            </a:r>
          </a:p>
          <a:p>
            <a:pPr lvl="1">
              <a:defRPr sz="1800" b="0">
                <a:solidFill>
                  <a:srgbClr val="202020"/>
                </a:solidFill>
              </a:defRPr>
            </a:pPr>
            <a:r>
              <a:t>– Repeatability and security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02020"/>
                </a:solidFill>
              </a:defRPr>
            </a:pPr>
            <a:r>
              <a:t>© MRSL, Inc.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