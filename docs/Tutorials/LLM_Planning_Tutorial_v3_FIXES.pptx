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51485" y="281583"/>
            <a:ext cx="3241030" cy="609600"/>
          </a:xfrm>
          <a:prstGeom prst="rect">
            <a:avLst/>
          </a:prstGeom>
          <a:noFill/>
          <a:ln/>
        </p:spPr>
        <p:txBody>
          <a:bodyPr wrap="square" lIns="0" tIns="152400" rIns="0" bIns="152400" rtlCol="0" anchor="t"/>
          <a:lstStyle/>
          <a:p>
            <a:pPr algn="ctr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Planning Tutorial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427821" y="1119783"/>
            <a:ext cx="6288357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7"/>
              </a:lnSpc>
              <a:spcAft>
                <a:spcPts val="1500"/>
              </a:spcAft>
              <a:buNone/>
            </a:pPr>
            <a:r>
              <a:rPr lang="en-US" sz="1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Initial Requirements to Execution-Ready Plans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409026" y="1737717"/>
            <a:ext cx="232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Chris Braun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409026" y="2042517"/>
            <a:ext cx="232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09026" y="2347317"/>
            <a:ext cx="232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1.2 • January 2026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8250" y="2995017"/>
            <a:ext cx="6667500" cy="762000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886700" y="2995017"/>
            <a:ext cx="0" cy="76200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2995017"/>
            <a:ext cx="0" cy="76200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65885" y="3109317"/>
            <a:ext cx="64122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practical guide showing mid-level engineers how to effectively plan with LLMs through real examples.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42492" y="4176117"/>
            <a:ext cx="5458867" cy="495300"/>
          </a:xfrm>
          <a:prstGeom prst="roundRect">
            <a:avLst>
              <a:gd name="adj" fmla="val 15385"/>
            </a:avLst>
          </a:prstGeom>
          <a:solidFill>
            <a:srgbClr val="FEF3C7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85813" y="4330452"/>
            <a:ext cx="477182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"Everyone has a plan until they get punched in the mouth." — Mike Tyson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438400"/>
            <a:ext cx="876300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57698" y="2533650"/>
            <a:ext cx="48286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Planning Matters: The Real Cost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666750"/>
            <a:ext cx="4000500" cy="3668762"/>
          </a:xfrm>
          <a:prstGeom prst="roundRect">
            <a:avLst>
              <a:gd name="adj" fmla="val 1246"/>
            </a:avLst>
          </a:prstGeom>
          <a:solidFill>
            <a:srgbClr val="FEE2E2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666750"/>
            <a:ext cx="0" cy="3668762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0550" y="838200"/>
            <a:ext cx="369189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 Planning Approach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0550" y="1120080"/>
            <a:ext cx="369189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Developer: "Add REST API for user data"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0550" y="1710630"/>
            <a:ext cx="36918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 weeks of coding]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0550" y="1946821"/>
            <a:ext cx="36918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0550" y="2198191"/>
            <a:ext cx="3619500" cy="16764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versioning strategy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authentication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rate limiting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pagination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error handling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90550" y="3950791"/>
            <a:ext cx="36918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months technical debt, 3 breaking changes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62500" y="895350"/>
            <a:ext cx="4000500" cy="4194572"/>
          </a:xfrm>
          <a:prstGeom prst="roundRect">
            <a:avLst>
              <a:gd name="adj" fmla="val 1143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81550" y="895350"/>
            <a:ext cx="0" cy="4194572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72050" y="1066800"/>
            <a:ext cx="369189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With Planning (25 minutes)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72050" y="1348680"/>
            <a:ext cx="3691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15-minute Q&amp;A: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72050" y="1653480"/>
            <a:ext cx="3619500" cy="16764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→ JWT with refresh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 → URL (/v1/, /v2/)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 → 1000 req/hour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Pagination → Cursor-based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→ RFC 7807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72050" y="3406080"/>
            <a:ext cx="36918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72050" y="3657451"/>
            <a:ext cx="3619500" cy="9906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Well-designed from day 1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breaking changes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to production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72050" y="4705201"/>
            <a:ext cx="36918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2-3 months of rework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953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69427" y="285750"/>
            <a:ext cx="46051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Five-Phase Planning Cycle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24905" y="1371600"/>
            <a:ext cx="1143000" cy="601861"/>
          </a:xfrm>
          <a:prstGeom prst="roundRect">
            <a:avLst>
              <a:gd name="adj" fmla="val 12661"/>
            </a:avLst>
          </a:prstGeom>
          <a:solidFill>
            <a:srgbClr val="0E7490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49492" y="1485900"/>
            <a:ext cx="89382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</a:t>
            </a:r>
            <a:endParaRPr lang="en-US" sz="1050" dirty="0"/>
          </a:p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750253" y="2087761"/>
            <a:ext cx="8921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(Starting point)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25055" y="1663005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110805" y="1371600"/>
            <a:ext cx="1259979" cy="601861"/>
          </a:xfrm>
          <a:prstGeom prst="roundRect">
            <a:avLst>
              <a:gd name="adj" fmla="val 12661"/>
            </a:avLst>
          </a:prstGeom>
          <a:solidFill>
            <a:srgbClr val="E0E7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34223" y="1485900"/>
            <a:ext cx="101314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</a:t>
            </a:r>
            <a:endParaRPr lang="en-US" sz="1050" dirty="0"/>
          </a:p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Refinement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93010" y="2087761"/>
            <a:ext cx="6955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(10-20 min)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27934" y="1663005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13684" y="1371600"/>
            <a:ext cx="1143000" cy="601861"/>
          </a:xfrm>
          <a:prstGeom prst="roundRect">
            <a:avLst>
              <a:gd name="adj" fmla="val 12661"/>
            </a:avLst>
          </a:prstGeom>
          <a:solidFill>
            <a:srgbClr val="DBEAFE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38271" y="1485900"/>
            <a:ext cx="89382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</a:t>
            </a:r>
            <a:endParaRPr lang="en-US" sz="1050" dirty="0"/>
          </a:p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400" y="2087761"/>
            <a:ext cx="6955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(15-30 min)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13834" y="1663005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99584" y="1371600"/>
            <a:ext cx="1319361" cy="601861"/>
          </a:xfrm>
          <a:prstGeom prst="roundRect">
            <a:avLst>
              <a:gd name="adj" fmla="val 12661"/>
            </a:avLst>
          </a:prstGeom>
          <a:solidFill>
            <a:srgbClr val="D1FAE5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22408" y="1485900"/>
            <a:ext cx="107371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</a:t>
            </a:r>
            <a:endParaRPr lang="en-US" sz="1050" dirty="0"/>
          </a:p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Options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11406" y="2087761"/>
            <a:ext cx="6955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(10-15 min)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55130" y="2541091"/>
            <a:ext cx="1148507" cy="601861"/>
          </a:xfrm>
          <a:prstGeom prst="roundRect">
            <a:avLst>
              <a:gd name="adj" fmla="val 12661"/>
            </a:avLst>
          </a:prstGeom>
          <a:solidFill>
            <a:srgbClr val="FEF3C7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879662" y="2655391"/>
            <a:ext cx="89944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</a:t>
            </a:r>
            <a:endParaRPr lang="en-US" sz="1050" dirty="0"/>
          </a:p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Review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981524" y="3257252"/>
            <a:ext cx="6955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(10-20 min)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60787" y="2832497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246537" y="2634407"/>
            <a:ext cx="1134963" cy="415230"/>
          </a:xfrm>
          <a:prstGeom prst="roundRect">
            <a:avLst>
              <a:gd name="adj" fmla="val 18351"/>
            </a:avLst>
          </a:prstGeom>
          <a:solidFill>
            <a:srgbClr val="FED7AA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90635" y="2748707"/>
            <a:ext cx="84676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Issues?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41452" y="3163937"/>
            <a:ext cx="94498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(Decision point)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438650" y="2832497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24400" y="2541091"/>
            <a:ext cx="1143000" cy="601861"/>
          </a:xfrm>
          <a:prstGeom prst="roundRect">
            <a:avLst>
              <a:gd name="adj" fmla="val 12661"/>
            </a:avLst>
          </a:prstGeom>
          <a:solidFill>
            <a:srgbClr val="E5E7EB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48987" y="2655391"/>
            <a:ext cx="89382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</a:t>
            </a:r>
            <a:endParaRPr lang="en-US" sz="1050" dirty="0"/>
          </a:p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85916" y="3257252"/>
            <a:ext cx="61981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(5-10 min)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24550" y="2832497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210300" y="2634407"/>
            <a:ext cx="1178421" cy="415230"/>
          </a:xfrm>
          <a:prstGeom prst="roundRect">
            <a:avLst>
              <a:gd name="adj" fmla="val 18351"/>
            </a:avLst>
          </a:prstGeom>
          <a:solidFill>
            <a:srgbClr val="065F46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334533" y="2748707"/>
            <a:ext cx="9299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60947" y="3163937"/>
            <a:ext cx="8771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(Execute plan)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71500" y="4276725"/>
            <a:ext cx="8001000" cy="247650"/>
          </a:xfrm>
          <a:prstGeom prst="roundRect">
            <a:avLst>
              <a:gd name="adj" fmla="val 23077"/>
            </a:avLst>
          </a:prstGeom>
          <a:solidFill>
            <a:srgbClr val="E5E7EB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585788" y="4276725"/>
            <a:ext cx="0" cy="247650"/>
          </a:xfrm>
          <a:prstGeom prst="line">
            <a:avLst/>
          </a:prstGeom>
          <a:noFill/>
          <a:ln w="28575">
            <a:solidFill>
              <a:srgbClr val="1E3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6368" y="4333875"/>
            <a:ext cx="78598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"Plans are worthless, but planning is everything." — Dwight D. Eisenhower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953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29732" y="28575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Patterns That 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895350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patterns consistently produce better plans by guiding LLM reasoning: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318171"/>
            <a:ext cx="8382000" cy="2682329"/>
          </a:xfrm>
          <a:prstGeom prst="roundRect">
            <a:avLst>
              <a:gd name="adj" fmla="val 1420"/>
            </a:avLst>
          </a:prstGeom>
          <a:noFill/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0525" y="1327696"/>
            <a:ext cx="8362950" cy="7239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723727" y="1327696"/>
            <a:ext cx="0" cy="7239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0525" y="2046833"/>
            <a:ext cx="133796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5775" y="1551533"/>
            <a:ext cx="11606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145334" y="1327696"/>
            <a:ext cx="0" cy="7239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28490" y="2046833"/>
            <a:ext cx="142160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3740" y="1551533"/>
            <a:ext cx="12460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39619" y="1327696"/>
            <a:ext cx="0" cy="7239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0096" y="2046833"/>
            <a:ext cx="309428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5346" y="1551533"/>
            <a:ext cx="29521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44382" y="2046833"/>
            <a:ext cx="250879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9632" y="1551533"/>
            <a:ext cx="23646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723727" y="2051596"/>
            <a:ext cx="0" cy="7239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0525" y="2770733"/>
            <a:ext cx="133796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775" y="2142083"/>
            <a:ext cx="116069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Constraint-Based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145334" y="2051596"/>
            <a:ext cx="0" cy="7239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28490" y="2770733"/>
            <a:ext cx="142160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3740" y="2142083"/>
            <a:ext cx="124601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Multi-option decisions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39619" y="2051596"/>
            <a:ext cx="0" cy="7239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50096" y="2770733"/>
            <a:ext cx="309428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5346" y="2128838"/>
            <a:ext cx="2952146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173 tests, no CI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DevOps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fluff, team of 1-2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44382" y="2770733"/>
            <a:ext cx="250879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9632" y="2142083"/>
            <a:ext cx="236466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80% of options upfront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90525" y="2775496"/>
            <a:ext cx="8362950" cy="7239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1723727" y="2775496"/>
            <a:ext cx="0" cy="7239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0525" y="3494633"/>
            <a:ext cx="133796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5775" y="2865983"/>
            <a:ext cx="116069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 Request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145334" y="2775496"/>
            <a:ext cx="0" cy="7239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28490" y="3494633"/>
            <a:ext cx="142160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3740" y="2999333"/>
            <a:ext cx="12460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flaws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239619" y="2775496"/>
            <a:ext cx="0" cy="7239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50096" y="3494633"/>
            <a:ext cx="309428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5346" y="2759422"/>
            <a:ext cx="295214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"Review plan and identify: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 Wrong assumptions?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2. What could fail?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3. Alternatives? Hidden costs?"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44382" y="3494633"/>
            <a:ext cx="250879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9632" y="2865983"/>
            <a:ext cx="236466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critical thinking, surfaces risks proactively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723727" y="3499396"/>
            <a:ext cx="0" cy="7239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5775" y="3613696"/>
            <a:ext cx="11606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3145334" y="3499396"/>
            <a:ext cx="0" cy="7239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23740" y="3480346"/>
            <a:ext cx="124601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tools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239619" y="3499396"/>
            <a:ext cx="0" cy="7239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45346" y="3467100"/>
            <a:ext cx="2952146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"Research [topic] and create table with Name, Purpose, Pros/Cons, and Verdict (Use/Defer/Reject)"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339632" y="3480346"/>
            <a:ext cx="236466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structured thinking, easy to compare options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4947" y="285750"/>
            <a:ext cx="77141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Anti-Patterns: Common Mistakes That Waste Time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8382000" cy="3048000"/>
          </a:xfrm>
          <a:prstGeom prst="roundRect">
            <a:avLst>
              <a:gd name="adj" fmla="val 1250"/>
            </a:avLst>
          </a:prstGeom>
          <a:noFill/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0525" y="962025"/>
            <a:ext cx="8362950" cy="6477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225576" y="9620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0525" y="1604963"/>
            <a:ext cx="1839813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5775" y="1147763"/>
            <a:ext cx="167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98106" y="9620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30338" y="1604963"/>
            <a:ext cx="167253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25588" y="1147763"/>
            <a:ext cx="15019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39619" y="9620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02869" y="1604963"/>
            <a:ext cx="2341513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98119" y="1147763"/>
            <a:ext cx="21843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Fails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44382" y="1604963"/>
            <a:ext cx="250879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9632" y="1147763"/>
            <a:ext cx="23646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225576" y="16097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0525" y="2252663"/>
            <a:ext cx="1839813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775" y="1795463"/>
            <a:ext cx="167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Q&amp;A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898106" y="16097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30338" y="2252663"/>
            <a:ext cx="167253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25588" y="1662113"/>
            <a:ext cx="15019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 to solution without clarifying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39619" y="16097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02869" y="2252663"/>
            <a:ext cx="2341513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98119" y="1795463"/>
            <a:ext cx="21843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wrong thing fast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44382" y="2252663"/>
            <a:ext cx="250879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9632" y="1662113"/>
            <a:ext cx="236466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ask 2-4 rounds of questions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225576" y="22574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0525" y="2900363"/>
            <a:ext cx="1839813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775" y="2443163"/>
            <a:ext cx="167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First Plan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898106" y="22574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30338" y="2900363"/>
            <a:ext cx="167253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25588" y="2176463"/>
            <a:ext cx="150195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first solution, skip critique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39619" y="22574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02869" y="2900363"/>
            <a:ext cx="2341513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98119" y="2309813"/>
            <a:ext cx="21843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better alternatives, ignore risks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244382" y="2900363"/>
            <a:ext cx="250879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39632" y="2309813"/>
            <a:ext cx="236466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request critique explicitly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2225576" y="29051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0525" y="3548063"/>
            <a:ext cx="1839813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5775" y="2957513"/>
            <a:ext cx="167258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Success Criteria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3898106" y="29051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30338" y="3548063"/>
            <a:ext cx="167253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25588" y="2957513"/>
            <a:ext cx="15019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"done" definition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239619" y="29051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902869" y="3548063"/>
            <a:ext cx="2341513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98119" y="2957513"/>
            <a:ext cx="21843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know when complete, scope creeps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244382" y="3548063"/>
            <a:ext cx="250879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39632" y="2957513"/>
            <a:ext cx="236466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verification steps upfront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2225576" y="35528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0525" y="4195763"/>
            <a:ext cx="1839813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5775" y="3738563"/>
            <a:ext cx="167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in Isolation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3898106" y="35528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30338" y="4195763"/>
            <a:ext cx="167253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25588" y="3471863"/>
            <a:ext cx="150195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without researching codebase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6239619" y="35528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902869" y="4195763"/>
            <a:ext cx="2341513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98119" y="3605213"/>
            <a:ext cx="21843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Reinvent solutions, inconsistency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6244382" y="4195763"/>
            <a:ext cx="250879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39632" y="3605213"/>
            <a:ext cx="236466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Explore agent to find existing patterns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2225576" y="42005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5775" y="4391025"/>
            <a:ext cx="167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Over-Planning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3898106" y="42005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325588" y="4124325"/>
            <a:ext cx="150195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edge cases that don't exist yet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6239619" y="42005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998119" y="4257675"/>
            <a:ext cx="21843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paralysis, YAGNI violations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6339632" y="4257675"/>
            <a:ext cx="236466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80% case first, iterate when necessary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419350"/>
            <a:ext cx="8763000" cy="4953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11966" y="2514600"/>
            <a:ext cx="51200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Planning Fundamentals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666750"/>
            <a:ext cx="4000500" cy="363289"/>
          </a:xfrm>
          <a:prstGeom prst="roundRect">
            <a:avLst>
              <a:gd name="adj" fmla="val 12585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723900"/>
            <a:ext cx="384733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1125289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Planning isn't overhead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23875" y="1468189"/>
            <a:ext cx="393477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prevents rework (6-10x ROI)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1795760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Use the 5-phase cycle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3875" y="2138660"/>
            <a:ext cx="393477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iteration loops when needed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000" y="2466231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Apply proven patterns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3875" y="2809131"/>
            <a:ext cx="393477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Constraint-based, critique, exploration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1000" y="3136702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Avoid anti-patterns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3875" y="3479602"/>
            <a:ext cx="393477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Q&amp;A, accept first plan, no criteria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1000" y="3467844"/>
            <a:ext cx="3810000" cy="961281"/>
          </a:xfrm>
          <a:prstGeom prst="roundRect">
            <a:avLst>
              <a:gd name="adj" fmla="val 5945"/>
            </a:avLst>
          </a:prstGeom>
          <a:solidFill>
            <a:srgbClr val="E5E7EB">
              <a:alpha val="90000"/>
            </a:srgbClr>
          </a:solidFill>
          <a:ln w="19050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9486" y="3582144"/>
            <a:ext cx="365302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XKCD #844 "Good Code"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486" y="3888284"/>
            <a:ext cx="365302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Flowchart: Start → Code Fast/Right</a:t>
            </a:r>
            <a:endParaRPr lang="en-US" sz="120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Spaghetti/Changed → Start Over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62500" y="666750"/>
            <a:ext cx="4000500" cy="1745456"/>
          </a:xfrm>
          <a:prstGeom prst="roundRect">
            <a:avLst>
              <a:gd name="adj" fmla="val 2619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81550" y="666750"/>
            <a:ext cx="0" cy="174545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5850" y="762000"/>
            <a:ext cx="384733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50"/>
              </a:spcAft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When to Plan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5850" y="1050131"/>
            <a:ext cx="3771900" cy="1266825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Multi-file changes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approaches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requirements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62500" y="2526506"/>
            <a:ext cx="4000500" cy="1412081"/>
          </a:xfrm>
          <a:prstGeom prst="roundRect">
            <a:avLst>
              <a:gd name="adj" fmla="val 3238"/>
            </a:avLst>
          </a:prstGeom>
          <a:solidFill>
            <a:srgbClr val="FEE2E2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781550" y="2526506"/>
            <a:ext cx="0" cy="1412081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5850" y="2621756"/>
            <a:ext cx="384733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50"/>
              </a:spcAft>
              <a:buNone/>
            </a:pPr>
            <a:r>
              <a:rPr lang="en-US" sz="13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When to Skip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5850" y="2909888"/>
            <a:ext cx="3771900" cy="9334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Single-line fixes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Obvious implementations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hotfixes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62500" y="4052888"/>
            <a:ext cx="4000500" cy="655141"/>
          </a:xfrm>
          <a:prstGeom prst="roundRect">
            <a:avLst>
              <a:gd name="adj" fmla="val 6979"/>
            </a:avLst>
          </a:prstGeom>
          <a:solidFill>
            <a:srgbClr val="E0E7F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781550" y="4052888"/>
            <a:ext cx="0" cy="655141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8131" y="4148137"/>
            <a:ext cx="38473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time: 50-95 minutes typical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58131" y="4399508"/>
            <a:ext cx="38473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 6-10x (time saved vs invested)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953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72272" y="285750"/>
            <a:ext cx="47994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DevOps Tooling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158180"/>
            <a:ext cx="854964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example: SparseTagging Project demonstrates all five planning phases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1000" y="1598712"/>
            <a:ext cx="8382000" cy="2706886"/>
          </a:xfrm>
          <a:prstGeom prst="roundRect">
            <a:avLst>
              <a:gd name="adj" fmla="val 1689"/>
            </a:avLst>
          </a:prstGeom>
          <a:solidFill>
            <a:srgbClr val="FEE2E2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598712"/>
            <a:ext cx="0" cy="2706886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1751112"/>
            <a:ext cx="819988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Point: Initial Vague Requirement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71500" y="2105323"/>
            <a:ext cx="8039100" cy="1476375"/>
          </a:xfrm>
          <a:prstGeom prst="roundRect">
            <a:avLst>
              <a:gd name="adj" fmla="val 2581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5325" y="2229148"/>
            <a:ext cx="7947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DevOps tools to increase code quality. Requirements: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95325" y="2505373"/>
            <a:ext cx="7791450" cy="9525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fluff (only tools with demonstrated value)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code production-ready (coverage, quality gates)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based on practical value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71500" y="3695998"/>
            <a:ext cx="81998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Clear: Goals and constraints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71500" y="3953173"/>
            <a:ext cx="81998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Unclear: Implementation details, specific tools, success metrics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381000" y="4515148"/>
            <a:ext cx="8382000" cy="441871"/>
          </a:xfrm>
          <a:prstGeom prst="roundRect">
            <a:avLst>
              <a:gd name="adj" fmla="val 10347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4515148"/>
            <a:ext cx="0" cy="441871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247" y="4629448"/>
            <a:ext cx="82776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15 minutes of Q&amp;A transforms this into an execution-ready plan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7625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875949" y="285750"/>
            <a:ext cx="53921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Q&amp;A Refinement (15 minutes)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243036"/>
            <a:ext cx="854964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450"/>
              </a:spcAft>
              <a:buNone/>
            </a:pPr>
            <a:r>
              <a:rPr lang="en-US" sz="1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rounds of Q&amp;A transformed vague requirements into specific implementation plan: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1000" y="610046"/>
            <a:ext cx="8382000" cy="1281410"/>
          </a:xfrm>
          <a:prstGeom prst="roundRect">
            <a:avLst>
              <a:gd name="adj" fmla="val 3568"/>
            </a:avLst>
          </a:prstGeom>
          <a:solidFill>
            <a:srgbClr val="E0E7F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610046"/>
            <a:ext cx="0" cy="128141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5300" y="686246"/>
            <a:ext cx="835533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1: Platform &amp; Scope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5300" y="919907"/>
            <a:ext cx="8191500" cy="8953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CI/CD platform? → GitHub Actions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target? → ≥85%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Pre-commit scope? → Full suite (catch issues before CI)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81000" y="2043857"/>
            <a:ext cx="8382000" cy="1281410"/>
          </a:xfrm>
          <a:prstGeom prst="roundRect">
            <a:avLst>
              <a:gd name="adj" fmla="val 3568"/>
            </a:avLst>
          </a:prstGeom>
          <a:solidFill>
            <a:srgbClr val="DBEAFE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043857"/>
            <a:ext cx="0" cy="128141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300" y="2120057"/>
            <a:ext cx="835533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2: Tool Preferences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5300" y="2353717"/>
            <a:ext cx="8191500" cy="8953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Formatting: Consolidate or separate? → Consolidate (fewer dependencies)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matrix: Which Python versions? → 3.9-3.13 (broad compatibility)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services? → CodeCov yes, SonarCloud defer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81000" y="3477667"/>
            <a:ext cx="8382000" cy="770037"/>
          </a:xfrm>
          <a:prstGeom prst="roundRect">
            <a:avLst>
              <a:gd name="adj" fmla="val 5937"/>
            </a:avLst>
          </a:prstGeom>
          <a:solidFill>
            <a:srgbClr val="D1FAE5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3477667"/>
            <a:ext cx="0" cy="77003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300" y="3553867"/>
            <a:ext cx="835533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3: Tool Consolidation Discovery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5300" y="3787527"/>
            <a:ext cx="835533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225"/>
              </a:spcAft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revealed: ruff replaces 6 separate tools (black, flake8, isort, pyupgrade, autoflake, pydocstyle)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5300" y="3993803"/>
            <a:ext cx="835533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6 to 1 consolidation perfectly aligns with "no fluff" constraint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1000" y="4419154"/>
            <a:ext cx="8382000" cy="1376660"/>
          </a:xfrm>
          <a:prstGeom prst="roundRect">
            <a:avLst>
              <a:gd name="adj" fmla="val 3321"/>
            </a:avLst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13766" y="4533454"/>
            <a:ext cx="831646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Aft>
                <a:spcPts val="45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Clear Implementation Requirements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5300" y="4786164"/>
            <a:ext cx="8153400" cy="8953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Platform: GitHub Actions • Tool: ruff (consolidates 6 tools)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Pre-commit: ruff + mypy + pytest • Coverage: CodeCov ≥85%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Matrix: 5 versions × 2 OS • Approach: Consolidate over best-in-class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7625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725359" y="285750"/>
            <a:ext cx="569328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Execution Checklist (5 minutes)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935682"/>
            <a:ext cx="4086225" cy="3196084"/>
          </a:xfrm>
          <a:prstGeom prst="roundRect">
            <a:avLst>
              <a:gd name="adj" fmla="val 1431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4825" y="1059507"/>
            <a:ext cx="39153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Tasks: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4825" y="1303288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Add Ruff configuration to pyproject.toml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4825" y="1501378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Update requirements-dev.txt (ruff&gt;=0.1.14,&lt;0.2)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4825" y="1699468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Create .pre-commit-config.yaml (6-stage pipeline)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4825" y="1897559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Create .github/workflows/ci.yml (quality + 10-matrix)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4825" y="2133749"/>
            <a:ext cx="39153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Tasks: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4825" y="2377529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Update CONTRIBUTING.md (pre-commit setup)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4825" y="2575620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Update README.md (CI status and coverage badges)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4825" y="2773710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Create docs/DEVOPS.md (comprehensive guide)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4825" y="3009900"/>
            <a:ext cx="39153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Tasks: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4825" y="3253680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Run ruff check --preview (audit current code)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4825" y="3451771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Apply auto-fixes: ruff check --fix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4825" y="3649861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Manually fix remaining issues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4825" y="3847951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Verify all 173 tests pass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76775" y="1064419"/>
            <a:ext cx="4086225" cy="2332583"/>
          </a:xfrm>
          <a:prstGeom prst="roundRect">
            <a:avLst>
              <a:gd name="adj" fmla="val 1960"/>
            </a:avLst>
          </a:prstGeom>
          <a:solidFill>
            <a:srgbClr val="DCFCE7">
              <a:alpha val="8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95825" y="1064419"/>
            <a:ext cx="0" cy="2332583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9175" y="1178719"/>
            <a:ext cx="389591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Criteria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29175" y="1468189"/>
            <a:ext cx="3895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Pre-commit runs successfully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867275" y="1679525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(pre-commit run --all-files)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29175" y="1883271"/>
            <a:ext cx="3895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Tests pass with ≥85% coverage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867275" y="2094607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(pytest --cov=src)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829175" y="2298353"/>
            <a:ext cx="3895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Type checking passes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867275" y="2509689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(mypy src/ --strict)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829175" y="2713434"/>
            <a:ext cx="3895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CI workflow runs on GitHub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4829175" y="2924770"/>
            <a:ext cx="3895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CodeCov integration active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4867275" y="3136106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 comments enabled)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676775" y="3587502"/>
            <a:ext cx="4086225" cy="415230"/>
          </a:xfrm>
          <a:prstGeom prst="roundRect">
            <a:avLst>
              <a:gd name="adj" fmla="val 11011"/>
            </a:avLst>
          </a:prstGeom>
          <a:solidFill>
            <a:srgbClr val="E0E7F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52499" y="3701802"/>
            <a:ext cx="39347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Planning Time: 60 minutes | ROI: 6-10x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953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75116" y="285750"/>
            <a:ext cx="499376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Exploration (20 minutes)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626566"/>
            <a:ext cx="854964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Comparison Matrix - Research alternatives before committing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1000" y="1067098"/>
            <a:ext cx="8382000" cy="2469356"/>
          </a:xfrm>
          <a:prstGeom prst="roundRect">
            <a:avLst>
              <a:gd name="adj" fmla="val 1851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067098"/>
            <a:ext cx="0" cy="246935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3400" y="1181398"/>
            <a:ext cx="827760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Decision: ruff consolidates 6 tools into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3400" y="1488579"/>
            <a:ext cx="8115300" cy="1933575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ruff: Lint + Format, 10-100x faster, replaces 6 tools → ✅ Use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black, flake8, isort, pylint: All made redundant by ruff → ❌ Skip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mypy: Type checking (existing) → ✅ Keep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pytest: Testing (existing) → ✅ Keep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CodeCov: Coverage tracking → ✅ Add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bandit: Security → ⏸️ Defer to future phase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81000" y="3765054"/>
            <a:ext cx="8382000" cy="1253133"/>
          </a:xfrm>
          <a:prstGeom prst="roundRect">
            <a:avLst>
              <a:gd name="adj" fmla="val 3648"/>
            </a:avLst>
          </a:prstGeom>
          <a:solidFill>
            <a:srgbClr val="E0E7F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3765054"/>
            <a:ext cx="0" cy="1253133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3400" y="3879354"/>
            <a:ext cx="82776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Evaluated (9 total):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3400" y="4168825"/>
            <a:ext cx="82776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Selected: ruff (new), mypy (keep), pytest (keep), CodeCov (new)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3400" y="4429720"/>
            <a:ext cx="82776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Rejected: black, flake8, isort, pylint (redundant)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3400" y="4690616"/>
            <a:ext cx="82776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⏸️ Deferred: bandit (security - evaluate later)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1000" y="5246787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900"/>
              </a:spcBef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Simpler dependency tree, faster CI, 66% fewer tools to maintain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428875"/>
            <a:ext cx="8763000" cy="47625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79278" y="2524125"/>
            <a:ext cx="69854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&amp; 4: Critique and Replanning (20 minutes)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666750"/>
            <a:ext cx="854964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 identified 5 risks - Plan expanded from 4 to 8 phases with mitigations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1000" y="992981"/>
            <a:ext cx="8382000" cy="2023021"/>
          </a:xfrm>
          <a:prstGeom prst="roundRect">
            <a:avLst>
              <a:gd name="adj" fmla="val 2260"/>
            </a:avLst>
          </a:prstGeom>
          <a:solidFill>
            <a:srgbClr val="FEE2E2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992981"/>
            <a:ext cx="0" cy="2023021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4350" y="1088231"/>
            <a:ext cx="83164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Identified: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4350" y="1358652"/>
            <a:ext cx="8153400" cy="1562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Pre-commit Slowness: 173 tests = 30-60s → Document --no-verify bypass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Matrix Cost: 10 combos × 5 min = 50 min/PR → Add pip caching, separate quality job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Ruff Breaking Changes: Fast-moving project → Pin version (ruff&gt;=0.1.14,&lt;0.2)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Onboarding: New contributors forget → Clear CONTRIBUTING.md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Security: Tools ≠ bug-free code → Document limitations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81000" y="2571750"/>
            <a:ext cx="4000500" cy="1714500"/>
          </a:xfrm>
          <a:prstGeom prst="roundRect">
            <a:avLst>
              <a:gd name="adj" fmla="val 2667"/>
            </a:avLst>
          </a:prstGeom>
          <a:solidFill>
            <a:srgbClr val="FEE2E2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571750"/>
            <a:ext cx="0" cy="171450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350" y="2667000"/>
            <a:ext cx="38473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Critique (4 phases):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4350" y="2937421"/>
            <a:ext cx="3771900" cy="12382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Ruff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Pre-commit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GitHub Actions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CodeCov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62500" y="2571750"/>
            <a:ext cx="4000500" cy="1714500"/>
          </a:xfrm>
          <a:prstGeom prst="roundRect">
            <a:avLst>
              <a:gd name="adj" fmla="val 2667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81550" y="2571750"/>
            <a:ext cx="0" cy="171450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5850" y="2667000"/>
            <a:ext cx="38473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Critique (8 phases):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5850" y="2937421"/>
            <a:ext cx="3771900" cy="2733675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Ruff Configuration (+ pin version)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requirements-dev.txt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Pre-commit Config (+ document bypass)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GitHub Actions CI (+ caching)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CodeCov Integration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Documentation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Steps (audit, auto-fix, manual)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Mitigation (all 5 addressed)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71500" y="4276725"/>
            <a:ext cx="8001000" cy="247650"/>
          </a:xfrm>
          <a:prstGeom prst="roundRect">
            <a:avLst>
              <a:gd name="adj" fmla="val 23077"/>
            </a:avLst>
          </a:prstGeom>
          <a:solidFill>
            <a:srgbClr val="FEF3C7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85788" y="4276725"/>
            <a:ext cx="0" cy="247650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368" y="4333875"/>
            <a:ext cx="78598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first 90% of a project takes 90% of the time. The last 10% takes the other 90%."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419350"/>
            <a:ext cx="8763000" cy="4953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13979" y="2514600"/>
            <a:ext cx="49160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Summary (30 minutes)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666750"/>
            <a:ext cx="4000500" cy="3069431"/>
          </a:xfrm>
          <a:prstGeom prst="roundRect">
            <a:avLst>
              <a:gd name="adj" fmla="val 1490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666750"/>
            <a:ext cx="0" cy="3069431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781050"/>
            <a:ext cx="380847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 Created: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3400" y="1088231"/>
            <a:ext cx="3733800" cy="25336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pyproject.toml - 38 lines ruff config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requirements-dev.txt - dependencies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.pre-commit-config.yaml - 246 lines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.github/workflows/ci.yml - 339 lines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.codecov.yml - 23 lines (85% threshold)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CONTRIBUTING.md - 22 lines added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 - CI/coverage badges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docs/DEVOPS.md - 450-line guide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1000" y="3850481"/>
            <a:ext cx="4000500" cy="1802606"/>
          </a:xfrm>
          <a:prstGeom prst="roundRect">
            <a:avLst>
              <a:gd name="adj" fmla="val 2536"/>
            </a:avLst>
          </a:prstGeom>
          <a:solidFill>
            <a:srgbClr val="E0E7F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3850481"/>
            <a:ext cx="0" cy="1802606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3964781"/>
            <a:ext cx="380847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 Applied: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3400" y="4271963"/>
            <a:ext cx="3733800" cy="1266825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309 issues identified by ruff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 auto-fixed (66% automation)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 manually fixed (34% judgment)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173 tests passing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62500" y="666750"/>
            <a:ext cx="4000500" cy="3031331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77943" y="819150"/>
            <a:ext cx="376961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Outcome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4900" y="1145381"/>
            <a:ext cx="3695700" cy="2400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quality gates → Comprehensive DevOps stack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review → Automated pre-commit + CI/CD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coverage → 85% tracked continuously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consolidation: 6 tools → 1 tool (ruff)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test regressions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62500" y="3812381"/>
            <a:ext cx="4000500" cy="1195983"/>
          </a:xfrm>
          <a:prstGeom prst="roundRect">
            <a:avLst>
              <a:gd name="adj" fmla="val 3823"/>
            </a:avLst>
          </a:prstGeom>
          <a:solidFill>
            <a:srgbClr val="DCFCE7">
              <a:alpha val="8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76800" y="3926681"/>
            <a:ext cx="38473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Effectiveness: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76800" y="4197102"/>
            <a:ext cx="38473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225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time: 90 minutes (60 planning + 30 execution)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76800" y="4438948"/>
            <a:ext cx="38473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225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8/8 phases completed as planned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76800" y="4680793"/>
            <a:ext cx="38473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major surprises during execution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953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492187" y="285750"/>
            <a:ext cx="61596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DevOps Planning Walkthrough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444996"/>
            <a:ext cx="854964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spcAft>
                <a:spcPts val="1050"/>
              </a:spcAft>
              <a:buNone/>
            </a:pPr>
            <a:r>
              <a:rPr lang="en-US" sz="12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5-phase planning cycle demonstrated in 60 minutes: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381000" y="919311"/>
            <a:ext cx="8382000" cy="2019300"/>
          </a:xfrm>
          <a:prstGeom prst="roundRect">
            <a:avLst>
              <a:gd name="adj" fmla="val 2264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919311"/>
            <a:ext cx="0" cy="201930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1071711"/>
            <a:ext cx="8039100" cy="17145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Vague requirement → Q&amp;A refined to specific goals (15 min)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Exploration → Tool comparison revealed 6→1 consolidation (20 min)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Critique → 5 risks identified and mitigated (10 min)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Replanning → 4 phases expanded to 8 with risk mitigations (10 min)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Finalization → Execution checklist with verification criteria (5 min)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1000" y="3205311"/>
            <a:ext cx="8382000" cy="1908721"/>
          </a:xfrm>
          <a:prstGeom prst="roundRect">
            <a:avLst>
              <a:gd name="adj" fmla="val 2395"/>
            </a:avLst>
          </a:prstGeom>
          <a:solidFill>
            <a:srgbClr val="E0E7F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3205311"/>
            <a:ext cx="0" cy="1908721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" y="3357711"/>
            <a:ext cx="81998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Lessons: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1500" y="3666232"/>
            <a:ext cx="8039100" cy="12954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transforms vague→specific (prevents wrong solution)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reveals consolidation opportunities (6 tools → 1)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 doubles plan size but catches all risks proactively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 planning: 60 min investment → smooth 30 min execution (2:1 ROI)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97180" y="5380732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1200"/>
              </a:spcBef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0 major surprises, all risks addressed, zero test regressions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81987" y="285750"/>
            <a:ext cx="4780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Cache Manager Integration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353616"/>
            <a:ext cx="4133850" cy="601861"/>
          </a:xfrm>
          <a:prstGeom prst="roundRect">
            <a:avLst>
              <a:gd name="adj" fmla="val 7596"/>
            </a:avLst>
          </a:prstGeom>
          <a:solidFill>
            <a:srgbClr val="DBEAFE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353616"/>
            <a:ext cx="0" cy="601861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467916"/>
            <a:ext cx="394449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query caching to sparse matrix library for repeated query speedup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1012627"/>
            <a:ext cx="42165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Q&amp;A Refinement (2 rounds)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1252538"/>
            <a:ext cx="4133850" cy="11430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1: Memory-bounded cache? → Yes, 10MB max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2: Eviction policy? → 256 entry limit + memory cap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81000" y="2452688"/>
            <a:ext cx="42165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Exploration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000" y="3787973"/>
            <a:ext cx="42165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Critique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1000" y="4027884"/>
            <a:ext cx="4133850" cy="9525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safety? → Not thread-safe (documented)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collisions? → MD5 hash (negligible risk)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enforcement? → Track entries + sizes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29150" y="827038"/>
            <a:ext cx="42165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Summary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29150" y="1066949"/>
            <a:ext cx="4133850" cy="19050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src/cache_manager.py - 175 lines created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@invalidates_cache decorator added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test cases, all passing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Performance: 100-170x speedup for cached queries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Memory: Stays under 10MB limit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29150" y="3029099"/>
            <a:ext cx="4133850" cy="1477863"/>
          </a:xfrm>
          <a:prstGeom prst="roundRect">
            <a:avLst>
              <a:gd name="adj" fmla="val 3094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48200" y="3029099"/>
            <a:ext cx="0" cy="1477863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1550" y="3143399"/>
            <a:ext cx="394449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Lesson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81550" y="3383310"/>
            <a:ext cx="3944493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phase (10 minutes) prevented premature choice of lru_cache. Would have caused memory issues in production.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81550" y="4019401"/>
            <a:ext cx="394449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 25 min planning → saved 8+ hours refactoring (10x return)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29732" y="28575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NOT Operator Bug Fix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912912"/>
            <a:ext cx="4133850" cy="601861"/>
          </a:xfrm>
          <a:prstGeom prst="roundRect">
            <a:avLst>
              <a:gd name="adj" fmla="val 7596"/>
            </a:avLst>
          </a:prstGeom>
          <a:solidFill>
            <a:srgbClr val="FEE2E2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912912"/>
            <a:ext cx="0" cy="601861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1027212"/>
            <a:ext cx="394449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matrix NOT operator returns wrong results - includes rows with no tags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1571923"/>
            <a:ext cx="42165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1811834"/>
            <a:ext cx="42165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Wrong: Uses all rows (0 to n_rows-1) including empty rows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2055614"/>
            <a:ext cx="42165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Query returns 9,847 rows when only 347 expected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1000" y="2299395"/>
            <a:ext cx="42165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1000" y="3377505"/>
            <a:ext cx="42165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Rationale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1000" y="3617416"/>
            <a:ext cx="4216527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matrices represent "absence of data" not "data with value zero". Users expect NOT to operate only on rows that exist.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1000" y="4234458"/>
            <a:ext cx="42165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Choice: Practical correctness over mathematical correctness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29150" y="773757"/>
            <a:ext cx="42165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Summary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29150" y="1013668"/>
            <a:ext cx="4133850" cy="1562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src/sparsetag.py - 9 lines changed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tests/test_critical_bugs.py - Test added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docs/ARCHITECTURE.md - 30 lines documenting rationale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177 tests passing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29150" y="2632918"/>
            <a:ext cx="4133850" cy="1927324"/>
          </a:xfrm>
          <a:prstGeom prst="roundRect">
            <a:avLst>
              <a:gd name="adj" fmla="val 2372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48200" y="2632918"/>
            <a:ext cx="0" cy="1927324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1550" y="2747218"/>
            <a:ext cx="394449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Lesson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81550" y="2987129"/>
            <a:ext cx="394449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analysis (15 minutes) prevented implementing mathematically "correct" but practically wrong fix.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81550" y="3436590"/>
            <a:ext cx="3944493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in ARCHITECTURE.md prevents future confusion: "Why doesn't NOT return mathematical complement?"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81550" y="4072682"/>
            <a:ext cx="394449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 15 min planning → prevented days of wrong implementation + ongoing confusion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71500" y="4425404"/>
            <a:ext cx="8001000" cy="337096"/>
          </a:xfrm>
          <a:prstGeom prst="roundRect">
            <a:avLst>
              <a:gd name="adj" fmla="val 16954"/>
            </a:avLst>
          </a:prstGeom>
          <a:solidFill>
            <a:srgbClr val="FEF3C7">
              <a:alpha val="80000"/>
            </a:srgbClr>
          </a:solidFill>
          <a:ln w="19050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6938" y="4520654"/>
            <a:ext cx="7850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Anti-Pattern:</a:t>
            </a:r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"GO YOLO — vibe it! 🤘" </a:t>
            </a:r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==&gt; 📦 UNEMPLOYED!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29732" y="28575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Additional Examples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71500" y="952500"/>
            <a:ext cx="816102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Manager Integration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1234380"/>
            <a:ext cx="8001000" cy="12954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phase prevents premature tool choice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3 approaches (lru_cache rejected - no memory bounds)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100-170x speedup with proper constraints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 25 min → saved 8+ hours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2720280"/>
            <a:ext cx="816102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Operator Bug Fix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" y="3002161"/>
            <a:ext cx="8001000" cy="12954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analysis documents decision rationale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correctness ≠ user expectations for sparse data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9 lines fixed, intuitive behavior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 15 min → prevented days of confusion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71500" y="4488061"/>
            <a:ext cx="816102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Pattern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71500" y="4769941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examples: 10-15 minutes planning prevents hours/days of rework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1500" y="5147072"/>
            <a:ext cx="8001000" cy="773311"/>
          </a:xfrm>
          <a:prstGeom prst="roundRect">
            <a:avLst>
              <a:gd name="adj" fmla="val 5912"/>
            </a:avLst>
          </a:prstGeom>
          <a:solidFill>
            <a:srgbClr val="DBEAFE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90550" y="5147072"/>
            <a:ext cx="0" cy="773311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5299472"/>
            <a:ext cx="781126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62000" y="5581352"/>
            <a:ext cx="78112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isn't about perfection - it's about avoiding expensive mistakes. Spend small time now to save large time later.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29732" y="28575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IV: Best Practices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71500" y="952500"/>
            <a:ext cx="8001000" cy="716161"/>
          </a:xfrm>
          <a:prstGeom prst="roundRect">
            <a:avLst>
              <a:gd name="adj" fmla="val 6384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0550" y="952500"/>
            <a:ext cx="0" cy="716161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085850"/>
            <a:ext cx="785012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You've Built the Foundation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2950" y="1348680"/>
            <a:ext cx="78501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Five-phase planning cycle, prompt patterns, and real examples showing 10x ROI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1859161"/>
            <a:ext cx="816102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Now: Advanced Techniques →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71500" y="2217241"/>
            <a:ext cx="8001000" cy="1390650"/>
          </a:xfrm>
          <a:prstGeom prst="roundRect">
            <a:avLst>
              <a:gd name="adj" fmla="val 3288"/>
            </a:avLst>
          </a:prstGeom>
          <a:solidFill>
            <a:srgbClr val="DBEAFE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90550" y="2217241"/>
            <a:ext cx="0" cy="139065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3900" y="2331541"/>
            <a:ext cx="78889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Extended Thinking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3900" y="2560141"/>
            <a:ext cx="7734300" cy="9334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planning with multiple trade-offs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problems without existing patterns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Allocating extended reasoning time (up to 32k tokens)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71500" y="3722191"/>
            <a:ext cx="8001000" cy="1390650"/>
          </a:xfrm>
          <a:prstGeom prst="roundRect">
            <a:avLst>
              <a:gd name="adj" fmla="val 3288"/>
            </a:avLst>
          </a:prstGeom>
          <a:solidFill>
            <a:srgbClr val="CCFBF1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90550" y="3722191"/>
            <a:ext cx="0" cy="139065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3900" y="3836491"/>
            <a:ext cx="78889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Context Management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3900" y="4065091"/>
            <a:ext cx="7734300" cy="9334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context between planning phases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/compact during cycles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Planning-specific context patterns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71500" y="5227141"/>
            <a:ext cx="8001000" cy="1390650"/>
          </a:xfrm>
          <a:prstGeom prst="roundRect">
            <a:avLst>
              <a:gd name="adj" fmla="val 3288"/>
            </a:avLst>
          </a:prstGeom>
          <a:solidFill>
            <a:srgbClr val="FEF3C7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90550" y="5227141"/>
            <a:ext cx="0" cy="139065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3900" y="5341441"/>
            <a:ext cx="78889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Team Collaboration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3900" y="5570041"/>
            <a:ext cx="7734300" cy="9334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for planning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refinement strategies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planning patterns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71500" y="6770191"/>
            <a:ext cx="8001000" cy="441871"/>
          </a:xfrm>
          <a:prstGeom prst="roundRect">
            <a:avLst>
              <a:gd name="adj" fmla="val 10347"/>
            </a:avLst>
          </a:prstGeom>
          <a:solidFill>
            <a:srgbClr val="EDE9FE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90550" y="6770191"/>
            <a:ext cx="0" cy="441871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3900" y="6884491"/>
            <a:ext cx="788898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Next: Deep dive into these advanced techniques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7250" y="2968228"/>
            <a:ext cx="4000500" cy="460772"/>
          </a:xfrm>
          <a:prstGeom prst="roundRect">
            <a:avLst>
              <a:gd name="adj" fmla="val 12403"/>
            </a:avLst>
          </a:prstGeom>
          <a:solidFill>
            <a:srgbClr val="E5E7EB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81538" y="2968228"/>
            <a:ext cx="0" cy="460772"/>
          </a:xfrm>
          <a:prstGeom prst="line">
            <a:avLst/>
          </a:prstGeom>
          <a:noFill/>
          <a:ln w="28575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15446" y="3025378"/>
            <a:ext cx="385705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5"/>
              </a:lnSpc>
              <a:buNone/>
            </a:pPr>
            <a:r>
              <a:rPr lang="en-US" sz="975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everything seems to be going well, you obviously don't know what's going on." — Edward Murphy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298133" y="4921300"/>
            <a:ext cx="8452485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29732" y="28575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Extended Thinking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8382000" cy="415230"/>
          </a:xfrm>
          <a:prstGeom prst="roundRect">
            <a:avLst>
              <a:gd name="adj" fmla="val 11011"/>
            </a:avLst>
          </a:prstGeom>
          <a:solidFill>
            <a:srgbClr val="DBEAFE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952500"/>
            <a:ext cx="0" cy="41523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1066800"/>
            <a:ext cx="82776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Thinking: Allocates more reasoning time (up to 32k tokens) for complex planning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1520130"/>
            <a:ext cx="4133850" cy="2087761"/>
          </a:xfrm>
          <a:prstGeom prst="roundRect">
            <a:avLst>
              <a:gd name="adj" fmla="val 2190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1520130"/>
            <a:ext cx="0" cy="2087761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2450" y="1653480"/>
            <a:ext cx="390563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Use Extended Thinking For: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2450" y="1912441"/>
            <a:ext cx="3829050" cy="1562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planning with multiple trade-offs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problems without existing patterns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architectural or security decisions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requiring synthesis of multiple sources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29150" y="1653480"/>
            <a:ext cx="4133850" cy="1821061"/>
          </a:xfrm>
          <a:prstGeom prst="roundRect">
            <a:avLst>
              <a:gd name="adj" fmla="val 2511"/>
            </a:avLst>
          </a:prstGeom>
          <a:solidFill>
            <a:srgbClr val="FEE2E2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48200" y="1653480"/>
            <a:ext cx="0" cy="1821061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786830"/>
            <a:ext cx="390563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When NOT to Use: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045791"/>
            <a:ext cx="3829050" cy="12954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well-defined tasks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implementations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Single-step problems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Time-sensitive quick decisions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81000" y="3760291"/>
            <a:ext cx="8382000" cy="811411"/>
          </a:xfrm>
          <a:prstGeom prst="roundRect">
            <a:avLst>
              <a:gd name="adj" fmla="val 5635"/>
            </a:avLst>
          </a:prstGeom>
          <a:solidFill>
            <a:srgbClr val="EDE9FE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0050" y="3760291"/>
            <a:ext cx="0" cy="811411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3400" y="3874591"/>
            <a:ext cx="82776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Pattern: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3400" y="4084141"/>
            <a:ext cx="827760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"Think carefully about [problem]. Consider multiple approaches, evaluate trade-offs, and identify risks before proposing a solution."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1000" y="4686002"/>
            <a:ext cx="8382000" cy="415230"/>
          </a:xfrm>
          <a:prstGeom prst="roundRect">
            <a:avLst>
              <a:gd name="adj" fmla="val 11011"/>
            </a:avLst>
          </a:prstGeom>
          <a:solidFill>
            <a:srgbClr val="FEF3C7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00050" y="4686002"/>
            <a:ext cx="0" cy="41523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400" y="4800302"/>
            <a:ext cx="82776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Extended thinking trades time for quality. Use when thoroughness matters more than speed.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53673" y="285750"/>
            <a:ext cx="52366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Management: When to Compact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71500" y="952500"/>
            <a:ext cx="816102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Planning generates substantial artifacts (Q&amp;A transcripts, comparison tables, critique feedback) that pollute context if not managed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71500" y="1459111"/>
            <a:ext cx="8001000" cy="1401961"/>
          </a:xfrm>
          <a:prstGeom prst="roundRect">
            <a:avLst>
              <a:gd name="adj" fmla="val 3261"/>
            </a:avLst>
          </a:prstGeom>
          <a:solidFill>
            <a:srgbClr val="DBEAFE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90550" y="1459111"/>
            <a:ext cx="0" cy="1401961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3900" y="1573411"/>
            <a:ext cx="788898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Between Phases (After Q&amp;A → Before Exploration)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3900" y="1813322"/>
            <a:ext cx="7734300" cy="9334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generates verbose dialogue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/compact preserves requirements summary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needs clean context to search effectively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71500" y="2956322"/>
            <a:ext cx="8001000" cy="1735336"/>
          </a:xfrm>
          <a:prstGeom prst="roundRect">
            <a:avLst>
              <a:gd name="adj" fmla="val 2635"/>
            </a:avLst>
          </a:prstGeom>
          <a:solidFill>
            <a:srgbClr val="CCFBF1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90550" y="2956322"/>
            <a:ext cx="0" cy="1735336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3900" y="3070622"/>
            <a:ext cx="788898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After Research (After Exploration → Before Options)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3900" y="3310533"/>
            <a:ext cx="7734300" cy="126682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generates many file reads and search results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before generating options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only comparison tables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verbose grep/search outputs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71500" y="4786908"/>
            <a:ext cx="8001000" cy="1401961"/>
          </a:xfrm>
          <a:prstGeom prst="roundRect">
            <a:avLst>
              <a:gd name="adj" fmla="val 3261"/>
            </a:avLst>
          </a:prstGeom>
          <a:solidFill>
            <a:srgbClr val="FEF3C7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90550" y="4786908"/>
            <a:ext cx="0" cy="140196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3900" y="4901208"/>
            <a:ext cx="788898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Before Critique (Clear implementation details, keep requirements)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3900" y="5141119"/>
            <a:ext cx="7734300" cy="9334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 evaluates plan against requirements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get distracted by exploration artifacts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perspective improves critique quality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71500" y="6303169"/>
            <a:ext cx="8001000" cy="415230"/>
          </a:xfrm>
          <a:prstGeom prst="roundRect">
            <a:avLst>
              <a:gd name="adj" fmla="val 11011"/>
            </a:avLst>
          </a:prstGeom>
          <a:solidFill>
            <a:srgbClr val="EDE9FE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90550" y="6303169"/>
            <a:ext cx="0" cy="41523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3900" y="6417469"/>
            <a:ext cx="78889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Context is a resource. Manage it deliberately between planning phases.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3815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29732" y="28575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Management Patterns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887909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Planning Sessions: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1097459"/>
            <a:ext cx="4133850" cy="9144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CLAUDE.md constraints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architecture docs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previous planning summaries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2164259"/>
            <a:ext cx="4133850" cy="1125736"/>
          </a:xfrm>
          <a:prstGeom prst="roundRect">
            <a:avLst>
              <a:gd name="adj" fmla="val 406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5775" y="2269034"/>
            <a:ext cx="40027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Q&amp;A Refinement: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85775" y="2469059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/compact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5775" y="2667149"/>
            <a:ext cx="400278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Preserved: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Requirements summary (platform: GitHub Actions, coverage: 85%)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5775" y="3025229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Cleared: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 rounds of Q&amp;A dialogue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1000" y="3442395"/>
            <a:ext cx="4133850" cy="965746"/>
          </a:xfrm>
          <a:prstGeom prst="roundRect">
            <a:avLst>
              <a:gd name="adj" fmla="val 473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5775" y="3547170"/>
            <a:ext cx="40027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Exploration: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85775" y="3747195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/compact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5775" y="3945285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Preserved: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Tool comparison table (ruff: Use, black: Reject)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5775" y="4143375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Cleared: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47 file reads, 12 grep searches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29150" y="647700"/>
            <a:ext cx="4133850" cy="1333500"/>
          </a:xfrm>
          <a:prstGeom prst="roundRect">
            <a:avLst>
              <a:gd name="adj" fmla="val 3429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48200" y="647700"/>
            <a:ext cx="0" cy="133350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2500" y="742950"/>
            <a:ext cx="39833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Final Plan to File: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62500" y="952500"/>
            <a:ext cx="3905250" cy="9334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disappears; files persist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to .claude/plans/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file in future sessions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629150" y="2133600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Budget by Phase: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29150" y="2343150"/>
            <a:ext cx="4133850" cy="2305050"/>
          </a:xfrm>
          <a:prstGeom prst="roundRect">
            <a:avLst>
              <a:gd name="adj" fmla="val 1983"/>
            </a:avLst>
          </a:prstGeom>
          <a:noFill/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38675" y="2352675"/>
            <a:ext cx="4114800" cy="3810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662613" y="2352675"/>
            <a:ext cx="0" cy="3810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38675" y="2728912"/>
            <a:ext cx="10287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4875" y="2405063"/>
            <a:ext cx="884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691313" y="2352675"/>
            <a:ext cx="0" cy="3810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7375" y="2728912"/>
            <a:ext cx="10287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43575" y="2405063"/>
            <a:ext cx="884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696075" y="2728912"/>
            <a:ext cx="2057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2275" y="2405063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662613" y="2733675"/>
            <a:ext cx="0" cy="3810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38675" y="3109913"/>
            <a:ext cx="10287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14875" y="2786063"/>
            <a:ext cx="884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691313" y="2733675"/>
            <a:ext cx="0" cy="3810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7375" y="3109913"/>
            <a:ext cx="10287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43575" y="2786063"/>
            <a:ext cx="884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696075" y="3109913"/>
            <a:ext cx="2057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72275" y="2786063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/compact after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638675" y="3114675"/>
            <a:ext cx="4114800" cy="3810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662613" y="3114675"/>
            <a:ext cx="0" cy="3810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38675" y="3490912"/>
            <a:ext cx="10287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14875" y="3167063"/>
            <a:ext cx="884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691313" y="3114675"/>
            <a:ext cx="0" cy="3810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67375" y="3490912"/>
            <a:ext cx="10287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43575" y="3167063"/>
            <a:ext cx="884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696075" y="3490912"/>
            <a:ext cx="2057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72275" y="3167063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/compact table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5662613" y="3495675"/>
            <a:ext cx="0" cy="3810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38675" y="3871913"/>
            <a:ext cx="10287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14875" y="3548063"/>
            <a:ext cx="884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6691313" y="3495675"/>
            <a:ext cx="0" cy="3810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67375" y="3871913"/>
            <a:ext cx="10287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43575" y="3548063"/>
            <a:ext cx="884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6696075" y="3871913"/>
            <a:ext cx="2057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72275" y="3548063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4638675" y="3876675"/>
            <a:ext cx="4114800" cy="3810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5662613" y="3876675"/>
            <a:ext cx="0" cy="3810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38675" y="4252913"/>
            <a:ext cx="10287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4875" y="3929063"/>
            <a:ext cx="884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6691313" y="3876675"/>
            <a:ext cx="0" cy="3810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667375" y="4252913"/>
            <a:ext cx="10287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43575" y="3929063"/>
            <a:ext cx="884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6696075" y="4252913"/>
            <a:ext cx="2057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72275" y="3929063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5662613" y="4257675"/>
            <a:ext cx="0" cy="3810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14875" y="4314825"/>
            <a:ext cx="884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6691313" y="4257675"/>
            <a:ext cx="0" cy="3810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43575" y="4314825"/>
            <a:ext cx="884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6772275" y="4314825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29732" y="28575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 to Avoid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76250" y="895350"/>
            <a:ext cx="8191500" cy="493365"/>
          </a:xfrm>
          <a:prstGeom prst="roundRect">
            <a:avLst>
              <a:gd name="adj" fmla="val 9267"/>
            </a:avLst>
          </a:prstGeom>
          <a:solidFill>
            <a:srgbClr val="FEE2E2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95300" y="895350"/>
            <a:ext cx="0" cy="493365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0550" y="971550"/>
            <a:ext cx="81610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10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Skipping Q&amp;A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0550" y="1152525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Jump to solution •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Harmful: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 wrong thing •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Ask 2-4 rounds of questions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6250" y="1455390"/>
            <a:ext cx="8191500" cy="298996"/>
          </a:xfrm>
          <a:prstGeom prst="roundRect">
            <a:avLst>
              <a:gd name="adj" fmla="val 15291"/>
            </a:avLst>
          </a:prstGeom>
          <a:solidFill>
            <a:srgbClr val="E5E7EB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95300" y="1455390"/>
            <a:ext cx="0" cy="298996"/>
          </a:xfrm>
          <a:prstGeom prst="line">
            <a:avLst/>
          </a:prstGeom>
          <a:noFill/>
          <a:ln w="38100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0550" y="1531590"/>
            <a:ext cx="81610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pPr algn="l" indent="0" marL="0">
              <a:lnSpc>
                <a:spcPts val="1155"/>
              </a:lnSpc>
              <a:buNone/>
            </a:pPr>
            <a:r>
              <a:rPr lang="en-US" sz="825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Skip Q&amp;A and go straight to coding. What could go wrong? </a:t>
            </a:r>
            <a:pPr algn="l" indent="0" marL="0">
              <a:lnSpc>
                <a:spcPts val="1155"/>
              </a:lnSpc>
              <a:buNone/>
            </a:pPr>
            <a:r>
              <a:rPr lang="en-US" sz="75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(Everything.)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76250" y="1821061"/>
            <a:ext cx="8191500" cy="493365"/>
          </a:xfrm>
          <a:prstGeom prst="roundRect">
            <a:avLst>
              <a:gd name="adj" fmla="val 9267"/>
            </a:avLst>
          </a:prstGeom>
          <a:solidFill>
            <a:srgbClr val="FEE2E2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95300" y="1821061"/>
            <a:ext cx="0" cy="493365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0550" y="1897261"/>
            <a:ext cx="81610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10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Accepting First Plan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0550" y="2078236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Skip critique •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Harmful: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Miss alternatives, ignore risks •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Request explicit critique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6250" y="2381101"/>
            <a:ext cx="8191500" cy="493365"/>
          </a:xfrm>
          <a:prstGeom prst="roundRect">
            <a:avLst>
              <a:gd name="adj" fmla="val 9267"/>
            </a:avLst>
          </a:prstGeom>
          <a:solidFill>
            <a:srgbClr val="FEE2E2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95300" y="2381101"/>
            <a:ext cx="0" cy="493365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0550" y="2457301"/>
            <a:ext cx="81610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10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No Success Criteria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0550" y="2638276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Vague "done" definition •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Harmful: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Scope creeps •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Define verification steps with metrics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6250" y="2941141"/>
            <a:ext cx="8191500" cy="493365"/>
          </a:xfrm>
          <a:prstGeom prst="roundRect">
            <a:avLst>
              <a:gd name="adj" fmla="val 9267"/>
            </a:avLst>
          </a:prstGeom>
          <a:solidFill>
            <a:srgbClr val="FEE2E2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95300" y="2941141"/>
            <a:ext cx="0" cy="493365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0550" y="3017341"/>
            <a:ext cx="81610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10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Planning in Isolation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0550" y="3198316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Design without research •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Harmful: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Architectural inconsistency •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Explore agent first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6250" y="3501182"/>
            <a:ext cx="8191500" cy="493365"/>
          </a:xfrm>
          <a:prstGeom prst="roundRect">
            <a:avLst>
              <a:gd name="adj" fmla="val 9267"/>
            </a:avLst>
          </a:prstGeom>
          <a:solidFill>
            <a:srgbClr val="FEE2E2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95300" y="3501182"/>
            <a:ext cx="0" cy="493365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0550" y="3577382"/>
            <a:ext cx="81610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10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Over-Planning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0550" y="3758357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Plan edge cases that don't exist •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Harmful: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Analysis paralysis •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Plan 80% case first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6250" y="4080272"/>
            <a:ext cx="8191500" cy="415230"/>
          </a:xfrm>
          <a:prstGeom prst="roundRect">
            <a:avLst>
              <a:gd name="adj" fmla="val 11011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95300" y="4080272"/>
            <a:ext cx="0" cy="41523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8650" y="4194572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These mistakes are all preventable with discipline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29732" y="28575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Selection Guide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71500" y="952500"/>
            <a:ext cx="816102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Each Agent Type: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1500" y="1268611"/>
            <a:ext cx="8001000" cy="2933700"/>
          </a:xfrm>
          <a:prstGeom prst="roundRect">
            <a:avLst>
              <a:gd name="adj" fmla="val 1558"/>
            </a:avLst>
          </a:prstGeom>
          <a:noFill/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1025" y="1278136"/>
            <a:ext cx="7981950" cy="571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172593" y="1278136"/>
            <a:ext cx="0" cy="5715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1025" y="1844873"/>
            <a:ext cx="159633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275" y="1425773"/>
            <a:ext cx="14242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Type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05710" y="1278136"/>
            <a:ext cx="0" cy="5715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77355" y="1844873"/>
            <a:ext cx="3033117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72605" y="1425773"/>
            <a:ext cx="28897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210473" y="1844873"/>
            <a:ext cx="3352354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5723" y="1425773"/>
            <a:ext cx="32250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Task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172593" y="1849636"/>
            <a:ext cx="0" cy="695325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1025" y="2540198"/>
            <a:ext cx="159633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275" y="2059186"/>
            <a:ext cx="14242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205710" y="1849636"/>
            <a:ext cx="0" cy="695325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77355" y="2540198"/>
            <a:ext cx="3033117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72605" y="1925836"/>
            <a:ext cx="28897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existing patterns, searching implementations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210473" y="2540198"/>
            <a:ext cx="3352354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5723" y="1925836"/>
            <a:ext cx="322509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does caching work in this codebase?"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1025" y="2544961"/>
            <a:ext cx="7981950" cy="962025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172593" y="2544961"/>
            <a:ext cx="0" cy="962025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1025" y="3502223"/>
            <a:ext cx="159633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275" y="2887861"/>
            <a:ext cx="14242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205710" y="2544961"/>
            <a:ext cx="0" cy="962025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77355" y="3502223"/>
            <a:ext cx="3033117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72605" y="2621161"/>
            <a:ext cx="288975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implementation, evaluating alternatives, creating checklists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210473" y="3502223"/>
            <a:ext cx="3352354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5723" y="2754511"/>
            <a:ext cx="322509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"Plan DevOps tooling with comparison table"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2172593" y="3506986"/>
            <a:ext cx="0" cy="6858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275" y="3716536"/>
            <a:ext cx="14242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205710" y="3506986"/>
            <a:ext cx="0" cy="6858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72605" y="3583186"/>
            <a:ext cx="28897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research + implementation, single-step tasks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305723" y="3716536"/>
            <a:ext cx="32250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"Fix NOT operator bug"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71500" y="4354711"/>
            <a:ext cx="8001000" cy="1409700"/>
          </a:xfrm>
          <a:prstGeom prst="roundRect">
            <a:avLst>
              <a:gd name="adj" fmla="val 3243"/>
            </a:avLst>
          </a:prstGeom>
          <a:solidFill>
            <a:srgbClr val="DBEAFE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590550" y="4354711"/>
            <a:ext cx="0" cy="140970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3900" y="4469011"/>
            <a:ext cx="78889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Framework: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3900" y="4697611"/>
            <a:ext cx="7734300" cy="9525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to understand existing code? → Explore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to design new feature with alternatives? → Plan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fix or research + implementation? → General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571500" y="5878711"/>
            <a:ext cx="8001000" cy="415230"/>
          </a:xfrm>
          <a:prstGeom prst="roundRect">
            <a:avLst>
              <a:gd name="adj" fmla="val 11011"/>
            </a:avLst>
          </a:prstGeom>
          <a:solidFill>
            <a:srgbClr val="FEF3C7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590550" y="5878711"/>
            <a:ext cx="0" cy="41523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3900" y="5993011"/>
            <a:ext cx="78889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Match the agent to the task type. Wrong agent = inefficient workflow.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3815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404747" y="285750"/>
            <a:ext cx="633450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ROI: Real Data from SparseTagging Project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71500" y="933450"/>
            <a:ext cx="816102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Investment vs. Time Saved: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1500" y="1230511"/>
            <a:ext cx="8001000" cy="2638425"/>
          </a:xfrm>
          <a:prstGeom prst="roundRect">
            <a:avLst>
              <a:gd name="adj" fmla="val 1733"/>
            </a:avLst>
          </a:prstGeom>
          <a:noFill/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1025" y="1240036"/>
            <a:ext cx="7981950" cy="523875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571750" y="1240036"/>
            <a:ext cx="0" cy="523875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1025" y="1759148"/>
            <a:ext cx="1995487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275" y="1363861"/>
            <a:ext cx="1831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Phase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008388" y="1240036"/>
            <a:ext cx="0" cy="523875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76513" y="1759148"/>
            <a:ext cx="1436638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1763" y="1363861"/>
            <a:ext cx="12613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Invested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201049" y="1240036"/>
            <a:ext cx="0" cy="523875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13150" y="1759148"/>
            <a:ext cx="3192661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08400" y="1363861"/>
            <a:ext cx="30524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205811" y="1759148"/>
            <a:ext cx="135686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01061" y="1363861"/>
            <a:ext cx="11896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571750" y="1763911"/>
            <a:ext cx="0" cy="523875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1025" y="2283023"/>
            <a:ext cx="1995487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275" y="1887736"/>
            <a:ext cx="1831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(3 rounds)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008388" y="1763911"/>
            <a:ext cx="0" cy="523875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76513" y="2283023"/>
            <a:ext cx="1436638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1763" y="1887736"/>
            <a:ext cx="12613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201049" y="1763911"/>
            <a:ext cx="0" cy="523875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13150" y="2283023"/>
            <a:ext cx="3192661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08400" y="1887736"/>
            <a:ext cx="30524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Prevented wrong solution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205811" y="2283023"/>
            <a:ext cx="135686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01061" y="1887736"/>
            <a:ext cx="11896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8-12x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81025" y="2287786"/>
            <a:ext cx="7981950" cy="523875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2571750" y="2287786"/>
            <a:ext cx="0" cy="523875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1025" y="2806898"/>
            <a:ext cx="1995487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275" y="2411611"/>
            <a:ext cx="1831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008388" y="2287786"/>
            <a:ext cx="0" cy="523875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76513" y="2806898"/>
            <a:ext cx="1436638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71763" y="2411611"/>
            <a:ext cx="12613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201049" y="2287786"/>
            <a:ext cx="0" cy="523875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13150" y="2806898"/>
            <a:ext cx="3192661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08400" y="2411611"/>
            <a:ext cx="30524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Avoided 5 redundant tools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7205811" y="2806898"/>
            <a:ext cx="135686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01061" y="2411611"/>
            <a:ext cx="11896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9-15x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2571750" y="2811661"/>
            <a:ext cx="0" cy="523875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1025" y="3330773"/>
            <a:ext cx="1995487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275" y="2935486"/>
            <a:ext cx="1831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008388" y="2811661"/>
            <a:ext cx="0" cy="523875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76513" y="3330773"/>
            <a:ext cx="1436638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71763" y="2935486"/>
            <a:ext cx="12613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7201049" y="2811661"/>
            <a:ext cx="0" cy="523875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13150" y="3330773"/>
            <a:ext cx="3192661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08400" y="2935486"/>
            <a:ext cx="30524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5 risks proactively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7205811" y="3330773"/>
            <a:ext cx="135686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01061" y="2935486"/>
            <a:ext cx="11896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6-12x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581025" y="3335536"/>
            <a:ext cx="7981950" cy="523875"/>
          </a:xfrm>
          <a:prstGeom prst="rect">
            <a:avLst/>
          </a:prstGeom>
          <a:solidFill>
            <a:srgbClr val="DCFCE7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2571750" y="3335536"/>
            <a:ext cx="0" cy="523875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6275" y="3464123"/>
            <a:ext cx="1831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4008388" y="3335536"/>
            <a:ext cx="0" cy="523875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71763" y="3464123"/>
            <a:ext cx="12613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7201049" y="3335536"/>
            <a:ext cx="0" cy="523875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08400" y="3464123"/>
            <a:ext cx="30524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execution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7301061" y="3464123"/>
            <a:ext cx="11896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6-10x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571500" y="4002286"/>
            <a:ext cx="8001000" cy="1724025"/>
          </a:xfrm>
          <a:prstGeom prst="roundRect">
            <a:avLst>
              <a:gd name="adj" fmla="val 2652"/>
            </a:avLst>
          </a:prstGeom>
          <a:solidFill>
            <a:srgbClr val="DBEAFE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590550" y="4002286"/>
            <a:ext cx="0" cy="1724025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3900" y="4116586"/>
            <a:ext cx="78889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Effectiveness: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23900" y="4345186"/>
            <a:ext cx="7734300" cy="126682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8/8 phases completed as planned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major surprises during implementation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rework required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risks identified upfront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571500" y="5840611"/>
            <a:ext cx="8001000" cy="916186"/>
          </a:xfrm>
          <a:prstGeom prst="roundRect">
            <a:avLst>
              <a:gd name="adj" fmla="val 4990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590550" y="5840611"/>
            <a:ext cx="0" cy="91618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3900" y="5954911"/>
            <a:ext cx="78889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Planning isn't overhead - it prevents rework.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23900" y="6198691"/>
            <a:ext cx="78889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alternative to planning isn't "moving faster" - it's thrashing.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723900" y="6442472"/>
            <a:ext cx="78889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60 minutes planning → 6-10 hours saved = 6-10x ROI</a:t>
            </a:r>
            <a:endParaRPr lang="en-US" sz="1125" dirty="0"/>
          </a:p>
        </p:txBody>
      </p:sp>
      <p:sp>
        <p:nvSpPr>
          <p:cNvPr id="69" name="Text 67"/>
          <p:cNvSpPr/>
          <p:nvPr/>
        </p:nvSpPr>
        <p:spPr>
          <a:xfrm>
            <a:off x="571500" y="4276725"/>
            <a:ext cx="8001000" cy="247650"/>
          </a:xfrm>
          <a:prstGeom prst="roundRect">
            <a:avLst>
              <a:gd name="adj" fmla="val 23077"/>
            </a:avLst>
          </a:prstGeom>
          <a:solidFill>
            <a:srgbClr val="DCFCE7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Shape 68"/>
          <p:cNvSpPr/>
          <p:nvPr/>
        </p:nvSpPr>
        <p:spPr>
          <a:xfrm>
            <a:off x="585788" y="4276725"/>
            <a:ext cx="0" cy="247650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6368" y="4333875"/>
            <a:ext cx="78598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"Good enough never is." — Debbi Fields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29732" y="28575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Best Practices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76250" y="895350"/>
            <a:ext cx="8191500" cy="312390"/>
          </a:xfrm>
          <a:prstGeom prst="roundRect">
            <a:avLst>
              <a:gd name="adj" fmla="val 14636"/>
            </a:avLst>
          </a:prstGeom>
          <a:solidFill>
            <a:srgbClr val="DBEAFE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95300" y="895350"/>
            <a:ext cx="0" cy="31239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0550" y="971550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 Extended Thinking: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Multiple trade-offs, novel problems, critical decisions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6250" y="1264890"/>
            <a:ext cx="8191500" cy="312390"/>
          </a:xfrm>
          <a:prstGeom prst="roundRect">
            <a:avLst>
              <a:gd name="adj" fmla="val 14636"/>
            </a:avLst>
          </a:prstGeom>
          <a:solidFill>
            <a:srgbClr val="FEE2E2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95300" y="1264890"/>
            <a:ext cx="0" cy="31239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0550" y="1341090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Avoid 5 Mistakes: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Skipping Q&amp;A, accepting first plan, no criteria, isolation, over-planning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6250" y="1634430"/>
            <a:ext cx="8191500" cy="312390"/>
          </a:xfrm>
          <a:prstGeom prst="roundRect">
            <a:avLst>
              <a:gd name="adj" fmla="val 14636"/>
            </a:avLst>
          </a:prstGeom>
          <a:solidFill>
            <a:srgbClr val="CCFBF1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95300" y="1634430"/>
            <a:ext cx="0" cy="31239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0550" y="1710630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Choose Right Tool: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Explore (find patterns), Plan (design alternatives), General (mixed)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6250" y="2003971"/>
            <a:ext cx="8191500" cy="312390"/>
          </a:xfrm>
          <a:prstGeom prst="roundRect">
            <a:avLst>
              <a:gd name="adj" fmla="val 14636"/>
            </a:avLst>
          </a:prstGeom>
          <a:solidFill>
            <a:srgbClr val="EDE9FE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95300" y="2003971"/>
            <a:ext cx="0" cy="31239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0550" y="2080171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Manage Context: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/compact after Q&amp;A, /compact after exploration, document to file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6250" y="2373511"/>
            <a:ext cx="8191500" cy="312390"/>
          </a:xfrm>
          <a:prstGeom prst="roundRect">
            <a:avLst>
              <a:gd name="adj" fmla="val 14636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95300" y="2373511"/>
            <a:ext cx="0" cy="31239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0550" y="2449711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Expect 6-10x ROI: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60 minutes planning prevents hours of rework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6250" y="2781151"/>
            <a:ext cx="8191500" cy="550515"/>
          </a:xfrm>
          <a:prstGeom prst="roundRect">
            <a:avLst>
              <a:gd name="adj" fmla="val 8305"/>
            </a:avLst>
          </a:prstGeom>
          <a:solidFill>
            <a:srgbClr val="FEF3C7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95300" y="2781151"/>
            <a:ext cx="0" cy="55051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600" y="2876401"/>
            <a:ext cx="8122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75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9600" y="3076426"/>
            <a:ext cx="81221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change - that's fine. Value is in planning (questioning, exploring, finding risks), not the plan artifact.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29732" y="28575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A: Quick Reference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939254"/>
            <a:ext cx="4133850" cy="2964061"/>
          </a:xfrm>
          <a:prstGeom prst="roundRect">
            <a:avLst>
              <a:gd name="adj" fmla="val 1542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939254"/>
            <a:ext cx="0" cy="2964061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2450" y="1072604"/>
            <a:ext cx="390563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Pre-Implementation Checklist: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2450" y="1331565"/>
            <a:ext cx="3829050" cy="24384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Requirements clarified through Q&amp;A (2-4 rounds)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Alternatives explored (comparison table created)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Plan critiqued (explicit "find problems" prompt)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Success criteria defined (verification steps)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Execution checklist created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1000" y="3960465"/>
            <a:ext cx="4133850" cy="415230"/>
          </a:xfrm>
          <a:prstGeom prst="roundRect">
            <a:avLst>
              <a:gd name="adj" fmla="val 11011"/>
            </a:avLst>
          </a:prstGeom>
          <a:solidFill>
            <a:srgbClr val="DBEAFE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3960465"/>
            <a:ext cx="0" cy="41523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4074765"/>
            <a:ext cx="3944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One-page reference for every planning session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29150" y="735062"/>
            <a:ext cx="42165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Five-Phase Cycle: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29150" y="1051173"/>
            <a:ext cx="4133850" cy="396180"/>
          </a:xfrm>
          <a:prstGeom prst="roundRect">
            <a:avLst>
              <a:gd name="adj" fmla="val 1154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33925" y="1155948"/>
            <a:ext cx="40027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Q&amp;A Refinement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Clarify requirements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29150" y="1561654"/>
            <a:ext cx="4133850" cy="396180"/>
          </a:xfrm>
          <a:prstGeom prst="roundRect">
            <a:avLst>
              <a:gd name="adj" fmla="val 1154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33925" y="1666429"/>
            <a:ext cx="40027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Exploration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Research alternatives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29150" y="2072134"/>
            <a:ext cx="4133850" cy="396180"/>
          </a:xfrm>
          <a:prstGeom prst="roundRect">
            <a:avLst>
              <a:gd name="adj" fmla="val 1154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33925" y="2176909"/>
            <a:ext cx="40027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Option Generation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Create 2-4 approaches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29150" y="2582614"/>
            <a:ext cx="4133850" cy="396180"/>
          </a:xfrm>
          <a:prstGeom prst="roundRect">
            <a:avLst>
              <a:gd name="adj" fmla="val 1154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33925" y="2687389"/>
            <a:ext cx="40027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Critique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Find flaws and risks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29150" y="3093095"/>
            <a:ext cx="4133850" cy="396180"/>
          </a:xfrm>
          <a:prstGeom prst="roundRect">
            <a:avLst>
              <a:gd name="adj" fmla="val 1154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33925" y="3197870"/>
            <a:ext cx="40027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Finalization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Create execution checklist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29150" y="3641675"/>
            <a:ext cx="4133850" cy="938213"/>
          </a:xfrm>
          <a:prstGeom prst="roundRect">
            <a:avLst>
              <a:gd name="adj" fmla="val 4873"/>
            </a:avLst>
          </a:prstGeom>
          <a:solidFill>
            <a:srgbClr val="FEF3C7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48200" y="3641675"/>
            <a:ext cx="0" cy="93821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62500" y="3736925"/>
            <a:ext cx="39833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Points: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62500" y="3927425"/>
            <a:ext cx="398335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Q&amp;A: Requirements clear?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After Critique: Major issues?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After Finalize: Approved?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3815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366582" y="285750"/>
            <a:ext cx="441083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Templates - Quick Reference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1253579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Constraint-Based (Multi-option decisions)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1444079"/>
            <a:ext cx="4133850" cy="811411"/>
          </a:xfrm>
          <a:prstGeom prst="roundRect">
            <a:avLst>
              <a:gd name="adj" fmla="val 563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725" y="1529804"/>
            <a:ext cx="404164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 [current state]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Request: [what you want]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Constraints: [boundaries]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Guidance: [how to evaluate]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293590"/>
            <a:ext cx="42165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Eliminates 80% of options upfront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586930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Critique Request (Finding flaws)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2777430"/>
            <a:ext cx="4133850" cy="971401"/>
          </a:xfrm>
          <a:prstGeom prst="roundRect">
            <a:avLst>
              <a:gd name="adj" fmla="val 470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725" y="2863155"/>
            <a:ext cx="4041648" cy="799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this plan and identify: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 Wrong assumptions?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2. What could fail?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3. Alternative approaches?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4. Hidden costs?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1000" y="3786932"/>
            <a:ext cx="42165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Explicit "find problems" triggers critical thinking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29150" y="1184077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Exploration Pattern (Comparing options)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29150" y="1374577"/>
            <a:ext cx="4133850" cy="971401"/>
          </a:xfrm>
          <a:prstGeom prst="roundRect">
            <a:avLst>
              <a:gd name="adj" fmla="val 470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14875" y="1460302"/>
            <a:ext cx="4041648" cy="799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[topic] and create comparison: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Tool name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Purpose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Pros/Cons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Verdict (Use/Defer/Reject with rationale)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29150" y="2384078"/>
            <a:ext cx="42165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Table format forces structured thinking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29150" y="2677418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Extended Thinking (Complex decisions)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29150" y="2867918"/>
            <a:ext cx="4133850" cy="491430"/>
          </a:xfrm>
          <a:prstGeom prst="roundRect">
            <a:avLst>
              <a:gd name="adj" fmla="val 930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14875" y="2953643"/>
            <a:ext cx="404164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"Think carefully about [problem]. Consider multiple approaches, evaluate trade-offs, identify risks."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29150" y="3397448"/>
            <a:ext cx="42165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Allocates more reasoning time for thorough analysis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29150" y="3728889"/>
            <a:ext cx="4133850" cy="363736"/>
          </a:xfrm>
          <a:prstGeom prst="roundRect">
            <a:avLst>
              <a:gd name="adj" fmla="val 12570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48200" y="3728889"/>
            <a:ext cx="0" cy="36373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2500" y="3824139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Usage: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Copy these templates for consistent planning quality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29732" y="28575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&amp; Next Steps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71500" y="952500"/>
            <a:ext cx="816102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Official Resources: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1253430"/>
            <a:ext cx="81610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Thinking Documentation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571500" y="1453455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and how to use extended reasoning (up to 32k tokens)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71500" y="1659136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platform.claude.com/docs/extended-thinking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71500" y="1927622"/>
            <a:ext cx="81610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Best Practices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71500" y="2127647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guide for using Claude Code effectively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1500" y="2333327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anthropic.com/engineering/claude-code-best-practices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71500" y="2601813"/>
            <a:ext cx="81610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Guide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71500" y="2801838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prompting techniques and patterns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71500" y="3007519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platform.claude.com/docs/prompt-engineering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571500" y="3276005"/>
            <a:ext cx="81610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Prompt Engineering Blog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571500" y="3476030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planning best practices with examples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1500" y="3681710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aws.amazon.com/blogs/machine-learning/prompt-engineering-claude-3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71500" y="4007346"/>
            <a:ext cx="8001000" cy="2047726"/>
          </a:xfrm>
          <a:prstGeom prst="roundRect">
            <a:avLst>
              <a:gd name="adj" fmla="val 2233"/>
            </a:avLst>
          </a:prstGeom>
          <a:solidFill>
            <a:srgbClr val="EDE9FE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90550" y="4007346"/>
            <a:ext cx="0" cy="2047726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2950" y="4140696"/>
            <a:ext cx="785012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Next: Appendix B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742950" y="4411117"/>
            <a:ext cx="78501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Claude Code Labs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2950" y="4654897"/>
            <a:ext cx="7696200" cy="126682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hands-on labs with real prompts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actual outputs (good and bad)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with CLI File Organizer project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by doing, not just reading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64563" y="1198215"/>
            <a:ext cx="5414873" cy="762000"/>
          </a:xfrm>
          <a:prstGeom prst="rect">
            <a:avLst/>
          </a:prstGeom>
          <a:noFill/>
          <a:ln/>
        </p:spPr>
        <p:txBody>
          <a:bodyPr wrap="square" lIns="0" tIns="152400" rIns="0" bIns="152400" rtlCol="0" anchor="t"/>
          <a:lstStyle/>
          <a:p>
            <a:pPr algn="ctr" indent="0" marL="0">
              <a:lnSpc>
                <a:spcPts val="3600"/>
              </a:lnSpc>
              <a:spcAft>
                <a:spcPts val="3000"/>
              </a:spcAft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Go Plan Something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38250" y="2455515"/>
            <a:ext cx="6667500" cy="1489621"/>
          </a:xfrm>
          <a:prstGeom prst="roundRect">
            <a:avLst>
              <a:gd name="adj" fmla="val 7673"/>
            </a:avLst>
          </a:prstGeom>
          <a:solidFill>
            <a:srgbClr val="DBEAFE">
              <a:alpha val="40000"/>
            </a:srgbClr>
          </a:solidFill>
          <a:ln w="28575">
            <a:solidFill>
              <a:srgbClr val="1E3A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511618" y="2712690"/>
            <a:ext cx="612076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b="1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you don't have time to do it right, when will you have time to do it over?"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11618" y="3474690"/>
            <a:ext cx="612076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1200"/>
              </a:spcBef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John Wooden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Planning Tutorial</dc:title>
  <dc:subject>PptxGenJS Presentation</dc:subject>
  <dc:creator>Dr. Chris Braun</dc:creator>
  <cp:lastModifiedBy>Dr. Chris Braun</cp:lastModifiedBy>
  <cp:revision>1</cp:revision>
  <dcterms:created xsi:type="dcterms:W3CDTF">2026-01-28T03:49:43Z</dcterms:created>
  <dcterms:modified xsi:type="dcterms:W3CDTF">2026-01-28T03:49:43Z</dcterms:modified>
</cp:coreProperties>
</file>