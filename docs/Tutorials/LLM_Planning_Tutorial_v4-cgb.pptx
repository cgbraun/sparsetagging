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  <p:sldId id="28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11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786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2907" y="1147987"/>
            <a:ext cx="4638035" cy="609600"/>
          </a:xfrm>
          <a:prstGeom prst="rect">
            <a:avLst/>
          </a:prstGeom>
          <a:noFill/>
          <a:ln/>
        </p:spPr>
        <p:txBody>
          <a:bodyPr wrap="square" lIns="0" tIns="152400" rIns="0" bIns="152400" rtlCol="0" anchor="t"/>
          <a:lstStyle/>
          <a:p>
            <a:pPr marL="0" indent="0" algn="ctr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Code Development: Planning Tutorial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056EF9-5826-4683-BC22-68150BB1AA65}"/>
              </a:ext>
            </a:extLst>
          </p:cNvPr>
          <p:cNvGrpSpPr/>
          <p:nvPr/>
        </p:nvGrpSpPr>
        <p:grpSpPr>
          <a:xfrm>
            <a:off x="3409026" y="2459383"/>
            <a:ext cx="2325800" cy="876300"/>
            <a:chOff x="3409026" y="1737717"/>
            <a:chExt cx="2325800" cy="876300"/>
          </a:xfrm>
        </p:grpSpPr>
        <p:sp>
          <p:nvSpPr>
            <p:cNvPr id="4" name="Text 2"/>
            <p:cNvSpPr/>
            <p:nvPr/>
          </p:nvSpPr>
          <p:spPr>
            <a:xfrm>
              <a:off x="3409026" y="1737717"/>
              <a:ext cx="232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500" b="1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Dr. Chris Braun</a:t>
              </a:r>
              <a:endParaRPr lang="en-US" sz="15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3409026" y="2042517"/>
              <a:ext cx="232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5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MRSL, Inc.</a:t>
              </a:r>
              <a:endParaRPr lang="en-US" sz="15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409026" y="2347317"/>
              <a:ext cx="2325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5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Version 1.2 • January 2026</a:t>
              </a:r>
              <a:endParaRPr lang="en-US" sz="15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D68387-1B07-49D6-B583-83E003083F2D}"/>
              </a:ext>
            </a:extLst>
          </p:cNvPr>
          <p:cNvGrpSpPr/>
          <p:nvPr/>
        </p:nvGrpSpPr>
        <p:grpSpPr>
          <a:xfrm>
            <a:off x="1257300" y="3571804"/>
            <a:ext cx="6667500" cy="762000"/>
            <a:chOff x="1238250" y="2995017"/>
            <a:chExt cx="6667500" cy="762000"/>
          </a:xfrm>
        </p:grpSpPr>
        <p:sp>
          <p:nvSpPr>
            <p:cNvPr id="7" name="Text 5"/>
            <p:cNvSpPr/>
            <p:nvPr/>
          </p:nvSpPr>
          <p:spPr>
            <a:xfrm>
              <a:off x="1238250" y="2995017"/>
              <a:ext cx="6667500" cy="762000"/>
            </a:xfrm>
            <a:prstGeom prst="roundRect">
              <a:avLst>
                <a:gd name="adj" fmla="val 6000"/>
              </a:avLst>
            </a:prstGeom>
            <a:solidFill>
              <a:srgbClr val="CCFBF1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7886700" y="2995017"/>
              <a:ext cx="0" cy="762000"/>
            </a:xfrm>
            <a:prstGeom prst="line">
              <a:avLst/>
            </a:prstGeom>
            <a:noFill/>
            <a:ln w="38100">
              <a:solidFill>
                <a:srgbClr val="14B8A6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1257300" y="2995017"/>
              <a:ext cx="0" cy="762000"/>
            </a:xfrm>
            <a:prstGeom prst="line">
              <a:avLst/>
            </a:prstGeom>
            <a:noFill/>
            <a:ln w="38100">
              <a:solidFill>
                <a:srgbClr val="14B8A6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1365885" y="3109317"/>
              <a:ext cx="641223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34E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Purpose:</a:t>
              </a:r>
              <a:r>
                <a:rPr lang="en-US" sz="1500" dirty="0">
                  <a:solidFill>
                    <a:srgbClr val="134E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A practical guide showing MRSL engineers how to effectively plan software development with LLMs through real examples.</a:t>
              </a:r>
              <a:endParaRPr lang="en-US" sz="15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78CD69-174B-4EA6-91A9-7E00B86E6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886" y="297802"/>
            <a:ext cx="2890164" cy="6003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426A50-0E74-4F53-8FA2-F3B62A293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430885">
            <a:off x="7373036" y="2160247"/>
            <a:ext cx="686284" cy="636124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427821" y="2012701"/>
            <a:ext cx="6288357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7"/>
              </a:lnSpc>
              <a:spcAft>
                <a:spcPts val="1500"/>
              </a:spcAft>
              <a:buNone/>
            </a:pPr>
            <a:r>
              <a:rPr lang="en-US" sz="1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Initial Requirements to Execution-Ready Plans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782181" y="2774229"/>
            <a:ext cx="2064639" cy="618134"/>
          </a:xfrm>
          <a:prstGeom prst="rect">
            <a:avLst/>
          </a:prstGeom>
          <a:solidFill>
            <a:srgbClr val="FEF3C7">
              <a:alpha val="40000"/>
            </a:srgbClr>
          </a:solidFill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"Everyone has a plan until they get punched in the mouth." — Mike Tyson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8766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57698" y="247650"/>
            <a:ext cx="48286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Planning Matters: The Real Cost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666750"/>
            <a:ext cx="4000500" cy="2898280"/>
          </a:xfrm>
          <a:prstGeom prst="roundRect">
            <a:avLst>
              <a:gd name="adj" fmla="val 1246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666750"/>
            <a:ext cx="0" cy="366876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838200"/>
            <a:ext cx="369189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Planning Approach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0550" y="1120080"/>
            <a:ext cx="36918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Developer: "Add REST API for user data"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0550" y="1710630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 weeks of coding]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0550" y="1946821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0550" y="2198191"/>
            <a:ext cx="3619500" cy="1676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versioning strategy</a:t>
            </a:r>
            <a:endParaRPr lang="en-US" sz="1350" dirty="0"/>
          </a:p>
          <a:p>
            <a:pPr marL="95250" indent="-95250" algn="l"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authentication</a:t>
            </a:r>
            <a:endParaRPr lang="en-US" sz="1350" dirty="0"/>
          </a:p>
          <a:p>
            <a:pPr marL="95250" indent="-95250" algn="l"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 limiting</a:t>
            </a:r>
            <a:endParaRPr lang="en-US" sz="1350" dirty="0"/>
          </a:p>
          <a:p>
            <a:pPr marL="95250" indent="-95250" algn="l"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pagination</a:t>
            </a:r>
            <a:endParaRPr lang="en-US" sz="1350" dirty="0"/>
          </a:p>
          <a:p>
            <a:pPr marL="95250" indent="-95250" algn="l"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error handling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26085" y="2276722"/>
            <a:ext cx="1567144" cy="30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of technical debt, 3 breaking changes</a:t>
            </a:r>
            <a:endParaRPr lang="en-US" sz="1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A2585E-2D69-4164-B05B-0EDA25ECF22F}"/>
              </a:ext>
            </a:extLst>
          </p:cNvPr>
          <p:cNvGrpSpPr/>
          <p:nvPr/>
        </p:nvGrpSpPr>
        <p:grpSpPr>
          <a:xfrm>
            <a:off x="4762500" y="666750"/>
            <a:ext cx="4000500" cy="4381500"/>
            <a:chOff x="4762500" y="869214"/>
            <a:chExt cx="4000500" cy="4381500"/>
          </a:xfrm>
        </p:grpSpPr>
        <p:sp>
          <p:nvSpPr>
            <p:cNvPr id="12" name="Text 10"/>
            <p:cNvSpPr/>
            <p:nvPr/>
          </p:nvSpPr>
          <p:spPr>
            <a:xfrm>
              <a:off x="4762500" y="869214"/>
              <a:ext cx="4000500" cy="4381500"/>
            </a:xfrm>
            <a:prstGeom prst="roundRect">
              <a:avLst>
                <a:gd name="adj" fmla="val 1143"/>
              </a:avLst>
            </a:prstGeom>
            <a:solidFill>
              <a:srgbClr val="DCFCE7">
                <a:alpha val="6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81550" y="895350"/>
              <a:ext cx="0" cy="4194572"/>
            </a:xfrm>
            <a:prstGeom prst="line">
              <a:avLst/>
            </a:prstGeom>
            <a:noFill/>
            <a:ln w="38100">
              <a:solidFill>
                <a:srgbClr val="10B981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972050" y="1066800"/>
              <a:ext cx="3691890" cy="205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20"/>
                </a:lnSpc>
                <a:spcAft>
                  <a:spcPts val="600"/>
                </a:spcAft>
                <a:buNone/>
              </a:pPr>
              <a:r>
                <a:rPr lang="en-US" sz="1350" b="1" dirty="0">
                  <a:solidFill>
                    <a:srgbClr val="065F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✅ With Planning (25 minutes)</a:t>
              </a:r>
              <a:endParaRPr lang="en-US" sz="13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972050" y="1348680"/>
              <a:ext cx="369189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spcAft>
                  <a:spcPts val="300"/>
                </a:spcAft>
                <a:buNone/>
              </a:pPr>
              <a:r>
                <a:rPr lang="en-US" sz="150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15-minute Q&amp;A to clarify needs:</a:t>
              </a:r>
              <a:endParaRPr lang="en-US" sz="15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972050" y="1653480"/>
              <a:ext cx="3619500" cy="1676400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Auth → JWT with refresh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Versioning → URL (/v1/, /v2/)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Rate limit → 1000 req/hour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Pagination → Cursor-based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Errors → RFC 7807</a:t>
              </a:r>
              <a:endParaRPr lang="en-US" sz="13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972050" y="3186378"/>
              <a:ext cx="3691890" cy="213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spcBef>
                  <a:spcPts val="450"/>
                </a:spcBef>
                <a:spcAft>
                  <a:spcPts val="300"/>
                </a:spcAft>
                <a:buNone/>
              </a:pPr>
              <a:r>
                <a:rPr lang="en-US" sz="120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Result: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972050" y="3437749"/>
              <a:ext cx="3619500" cy="990600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Well-designed from day 1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 breaking changes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Scales to production</a:t>
              </a:r>
              <a:endParaRPr lang="en-US" sz="13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972050" y="4549080"/>
              <a:ext cx="3691890" cy="213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spcBef>
                  <a:spcPts val="450"/>
                </a:spcBef>
                <a:buNone/>
              </a:pPr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Distill to clear requirements, embed quality in all stages, iteratively discover and enhance. </a:t>
              </a:r>
              <a:br>
                <a:rPr lang="en-US" sz="12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	</a:t>
              </a:r>
              <a:r>
                <a:rPr lang="en-US" sz="1200" b="1" dirty="0">
                  <a:solidFill>
                    <a:schemeClr val="accent6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  <a:sym typeface="Wingdings" panose="05000000000000000000" pitchFamily="2" charset="2"/>
                </a:rPr>
                <a:t> Slow is fast and fast is crap</a:t>
              </a:r>
              <a:endParaRPr lang="en-US" sz="1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Text 1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7FD1F80-CD73-40D4-BC9A-D2984B7E0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61" y="3402293"/>
            <a:ext cx="2756902" cy="1582482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C1FAC91E-388A-42E3-AE90-34B4A6506B37}"/>
              </a:ext>
            </a:extLst>
          </p:cNvPr>
          <p:cNvSpPr/>
          <p:nvPr/>
        </p:nvSpPr>
        <p:spPr>
          <a:xfrm>
            <a:off x="264061" y="3938382"/>
            <a:ext cx="1498079" cy="676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" pitchFamily="34" charset="0"/>
                <a:cs typeface="Arial" pitchFamily="34" charset="-120"/>
              </a:rPr>
              <a:t>&amp; the path to the unemployment office</a:t>
            </a:r>
            <a:endParaRPr lang="en-US" sz="1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3" name="Text 1"/>
          <p:cNvSpPr/>
          <p:nvPr/>
        </p:nvSpPr>
        <p:spPr>
          <a:xfrm>
            <a:off x="1854927" y="285750"/>
            <a:ext cx="54341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Five-Phase Planning Cycle</a:t>
            </a:r>
            <a:endParaRPr lang="en-US" sz="2800" b="1" dirty="0"/>
          </a:p>
        </p:txBody>
      </p:sp>
      <p:sp>
        <p:nvSpPr>
          <p:cNvPr id="4" name="Text 2"/>
          <p:cNvSpPr/>
          <p:nvPr/>
        </p:nvSpPr>
        <p:spPr>
          <a:xfrm>
            <a:off x="1624905" y="1371600"/>
            <a:ext cx="1143000" cy="601861"/>
          </a:xfrm>
          <a:prstGeom prst="roundRect">
            <a:avLst>
              <a:gd name="adj" fmla="val 12661"/>
            </a:avLst>
          </a:prstGeom>
          <a:solidFill>
            <a:srgbClr val="0E7490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5" name="Text 3"/>
          <p:cNvSpPr/>
          <p:nvPr/>
        </p:nvSpPr>
        <p:spPr>
          <a:xfrm>
            <a:off x="1749492" y="1485900"/>
            <a:ext cx="8938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</a:t>
            </a:r>
            <a:endParaRPr lang="en-US" sz="1100" b="1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100" b="1" dirty="0"/>
          </a:p>
        </p:txBody>
      </p:sp>
      <p:sp>
        <p:nvSpPr>
          <p:cNvPr id="6" name="Text 4"/>
          <p:cNvSpPr/>
          <p:nvPr/>
        </p:nvSpPr>
        <p:spPr>
          <a:xfrm>
            <a:off x="1750253" y="2087761"/>
            <a:ext cx="8921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(Starting point)</a:t>
            </a:r>
            <a:endParaRPr lang="en-US" sz="1100" b="1" dirty="0"/>
          </a:p>
        </p:txBody>
      </p:sp>
      <p:sp>
        <p:nvSpPr>
          <p:cNvPr id="7" name="Text 5"/>
          <p:cNvSpPr/>
          <p:nvPr/>
        </p:nvSpPr>
        <p:spPr>
          <a:xfrm>
            <a:off x="2825055" y="149303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3110805" y="1371600"/>
            <a:ext cx="1259979" cy="601861"/>
          </a:xfrm>
          <a:prstGeom prst="roundRect">
            <a:avLst>
              <a:gd name="adj" fmla="val 12661"/>
            </a:avLst>
          </a:prstGeom>
          <a:solidFill>
            <a:srgbClr val="E0E7FF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9" name="Text 7"/>
          <p:cNvSpPr/>
          <p:nvPr/>
        </p:nvSpPr>
        <p:spPr>
          <a:xfrm>
            <a:off x="3234222" y="1485900"/>
            <a:ext cx="113656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</a:t>
            </a:r>
            <a:endParaRPr lang="en-US" sz="1100" b="1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Refinement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3393010" y="2087761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(10-20 min)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4427934" y="149303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b="1" dirty="0"/>
          </a:p>
        </p:txBody>
      </p:sp>
      <p:sp>
        <p:nvSpPr>
          <p:cNvPr id="12" name="Text 10"/>
          <p:cNvSpPr/>
          <p:nvPr/>
        </p:nvSpPr>
        <p:spPr>
          <a:xfrm>
            <a:off x="4713684" y="1371600"/>
            <a:ext cx="1143000" cy="601861"/>
          </a:xfrm>
          <a:prstGeom prst="roundRect">
            <a:avLst>
              <a:gd name="adj" fmla="val 12661"/>
            </a:avLst>
          </a:prstGeom>
          <a:solidFill>
            <a:srgbClr val="DBEAFE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13" name="Text 11"/>
          <p:cNvSpPr/>
          <p:nvPr/>
        </p:nvSpPr>
        <p:spPr>
          <a:xfrm>
            <a:off x="4838271" y="1485900"/>
            <a:ext cx="8938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</a:t>
            </a:r>
            <a:endParaRPr lang="en-US" sz="1100" b="1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100" b="1" dirty="0"/>
          </a:p>
        </p:txBody>
      </p:sp>
      <p:sp>
        <p:nvSpPr>
          <p:cNvPr id="14" name="Text 12"/>
          <p:cNvSpPr/>
          <p:nvPr/>
        </p:nvSpPr>
        <p:spPr>
          <a:xfrm>
            <a:off x="4937400" y="2087761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(15-30 min)</a:t>
            </a:r>
            <a:endParaRPr lang="en-US" sz="1100" b="1" dirty="0"/>
          </a:p>
        </p:txBody>
      </p:sp>
      <p:sp>
        <p:nvSpPr>
          <p:cNvPr id="15" name="Text 13"/>
          <p:cNvSpPr/>
          <p:nvPr/>
        </p:nvSpPr>
        <p:spPr>
          <a:xfrm>
            <a:off x="5913834" y="149303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b="1" dirty="0"/>
          </a:p>
        </p:txBody>
      </p:sp>
      <p:sp>
        <p:nvSpPr>
          <p:cNvPr id="16" name="Text 14"/>
          <p:cNvSpPr/>
          <p:nvPr/>
        </p:nvSpPr>
        <p:spPr>
          <a:xfrm>
            <a:off x="6199584" y="1371600"/>
            <a:ext cx="1319361" cy="601861"/>
          </a:xfrm>
          <a:prstGeom prst="roundRect">
            <a:avLst>
              <a:gd name="adj" fmla="val 12661"/>
            </a:avLst>
          </a:prstGeom>
          <a:solidFill>
            <a:srgbClr val="D1FAE5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17" name="Text 15"/>
          <p:cNvSpPr/>
          <p:nvPr/>
        </p:nvSpPr>
        <p:spPr>
          <a:xfrm>
            <a:off x="6322408" y="1485900"/>
            <a:ext cx="119653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</a:t>
            </a:r>
            <a:endParaRPr lang="en-US" sz="1100" b="1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Options</a:t>
            </a:r>
            <a:endParaRPr lang="en-US" sz="1100" b="1" dirty="0"/>
          </a:p>
        </p:txBody>
      </p:sp>
      <p:sp>
        <p:nvSpPr>
          <p:cNvPr id="18" name="Text 16"/>
          <p:cNvSpPr/>
          <p:nvPr/>
        </p:nvSpPr>
        <p:spPr>
          <a:xfrm>
            <a:off x="6511406" y="2087761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(10-15 min)</a:t>
            </a:r>
            <a:endParaRPr lang="en-US" sz="1100" b="1" dirty="0"/>
          </a:p>
        </p:txBody>
      </p:sp>
      <p:sp>
        <p:nvSpPr>
          <p:cNvPr id="19" name="Text 17"/>
          <p:cNvSpPr/>
          <p:nvPr/>
        </p:nvSpPr>
        <p:spPr>
          <a:xfrm>
            <a:off x="1755130" y="2541091"/>
            <a:ext cx="1148507" cy="601861"/>
          </a:xfrm>
          <a:prstGeom prst="roundRect">
            <a:avLst>
              <a:gd name="adj" fmla="val 12661"/>
            </a:avLst>
          </a:prstGeom>
          <a:solidFill>
            <a:srgbClr val="FEF3C7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20" name="Text 18"/>
          <p:cNvSpPr/>
          <p:nvPr/>
        </p:nvSpPr>
        <p:spPr>
          <a:xfrm>
            <a:off x="1879662" y="2655391"/>
            <a:ext cx="102397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</a:t>
            </a:r>
            <a:endParaRPr lang="en-US" sz="1100" b="1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Review</a:t>
            </a:r>
            <a:endParaRPr lang="en-US" sz="1100" b="1" dirty="0"/>
          </a:p>
        </p:txBody>
      </p:sp>
      <p:sp>
        <p:nvSpPr>
          <p:cNvPr id="21" name="Text 19"/>
          <p:cNvSpPr/>
          <p:nvPr/>
        </p:nvSpPr>
        <p:spPr>
          <a:xfrm>
            <a:off x="1981524" y="3257252"/>
            <a:ext cx="695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(10-20 min)</a:t>
            </a:r>
            <a:endParaRPr lang="en-US" sz="1100" b="1" dirty="0"/>
          </a:p>
        </p:txBody>
      </p:sp>
      <p:sp>
        <p:nvSpPr>
          <p:cNvPr id="22" name="Text 20"/>
          <p:cNvSpPr/>
          <p:nvPr/>
        </p:nvSpPr>
        <p:spPr>
          <a:xfrm>
            <a:off x="2960787" y="2698598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b="1" dirty="0"/>
          </a:p>
        </p:txBody>
      </p:sp>
      <p:sp>
        <p:nvSpPr>
          <p:cNvPr id="23" name="Text 21"/>
          <p:cNvSpPr/>
          <p:nvPr/>
        </p:nvSpPr>
        <p:spPr>
          <a:xfrm>
            <a:off x="3246537" y="2634407"/>
            <a:ext cx="1134963" cy="415230"/>
          </a:xfrm>
          <a:prstGeom prst="roundRect">
            <a:avLst>
              <a:gd name="adj" fmla="val 18351"/>
            </a:avLst>
          </a:prstGeom>
          <a:solidFill>
            <a:srgbClr val="FED7AA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24" name="Text 22"/>
          <p:cNvSpPr/>
          <p:nvPr/>
        </p:nvSpPr>
        <p:spPr>
          <a:xfrm>
            <a:off x="3390635" y="2748707"/>
            <a:ext cx="9801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Issues?</a:t>
            </a:r>
            <a:endParaRPr lang="en-US" sz="1100" b="1" dirty="0"/>
          </a:p>
        </p:txBody>
      </p:sp>
      <p:sp>
        <p:nvSpPr>
          <p:cNvPr id="25" name="Text 23"/>
          <p:cNvSpPr/>
          <p:nvPr/>
        </p:nvSpPr>
        <p:spPr>
          <a:xfrm>
            <a:off x="3341452" y="3163937"/>
            <a:ext cx="9449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(Decision point)</a:t>
            </a:r>
            <a:endParaRPr lang="en-US" sz="1100" b="1" dirty="0"/>
          </a:p>
        </p:txBody>
      </p:sp>
      <p:sp>
        <p:nvSpPr>
          <p:cNvPr id="26" name="Text 24"/>
          <p:cNvSpPr/>
          <p:nvPr/>
        </p:nvSpPr>
        <p:spPr>
          <a:xfrm>
            <a:off x="4438650" y="2698598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b="1" dirty="0"/>
          </a:p>
        </p:txBody>
      </p:sp>
      <p:sp>
        <p:nvSpPr>
          <p:cNvPr id="27" name="Text 25"/>
          <p:cNvSpPr/>
          <p:nvPr/>
        </p:nvSpPr>
        <p:spPr>
          <a:xfrm>
            <a:off x="4724400" y="2541091"/>
            <a:ext cx="1143000" cy="601861"/>
          </a:xfrm>
          <a:prstGeom prst="roundRect">
            <a:avLst>
              <a:gd name="adj" fmla="val 12661"/>
            </a:avLst>
          </a:prstGeom>
          <a:solidFill>
            <a:srgbClr val="E5E7EB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28" name="Text 26"/>
          <p:cNvSpPr/>
          <p:nvPr/>
        </p:nvSpPr>
        <p:spPr>
          <a:xfrm>
            <a:off x="4848987" y="2655391"/>
            <a:ext cx="8938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</a:t>
            </a:r>
            <a:endParaRPr lang="en-US" sz="1100" b="1" dirty="0"/>
          </a:p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100" b="1" dirty="0"/>
          </a:p>
        </p:txBody>
      </p:sp>
      <p:sp>
        <p:nvSpPr>
          <p:cNvPr id="29" name="Text 27"/>
          <p:cNvSpPr/>
          <p:nvPr/>
        </p:nvSpPr>
        <p:spPr>
          <a:xfrm>
            <a:off x="4985916" y="3257252"/>
            <a:ext cx="6198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(5-10 min)</a:t>
            </a:r>
            <a:endParaRPr lang="en-US" sz="1100" b="1" dirty="0"/>
          </a:p>
        </p:txBody>
      </p:sp>
      <p:sp>
        <p:nvSpPr>
          <p:cNvPr id="30" name="Text 28"/>
          <p:cNvSpPr/>
          <p:nvPr/>
        </p:nvSpPr>
        <p:spPr>
          <a:xfrm>
            <a:off x="5924550" y="2698598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b="1" dirty="0"/>
          </a:p>
        </p:txBody>
      </p:sp>
      <p:sp>
        <p:nvSpPr>
          <p:cNvPr id="31" name="Text 29"/>
          <p:cNvSpPr/>
          <p:nvPr/>
        </p:nvSpPr>
        <p:spPr>
          <a:xfrm>
            <a:off x="6210300" y="2634407"/>
            <a:ext cx="1418409" cy="415230"/>
          </a:xfrm>
          <a:prstGeom prst="roundRect">
            <a:avLst>
              <a:gd name="adj" fmla="val 18351"/>
            </a:avLst>
          </a:prstGeom>
          <a:solidFill>
            <a:srgbClr val="065F46"/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/>
          </a:p>
        </p:txBody>
      </p:sp>
      <p:sp>
        <p:nvSpPr>
          <p:cNvPr id="32" name="Text 30"/>
          <p:cNvSpPr/>
          <p:nvPr/>
        </p:nvSpPr>
        <p:spPr>
          <a:xfrm>
            <a:off x="6334533" y="2748707"/>
            <a:ext cx="11844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b="1" dirty="0"/>
          </a:p>
        </p:txBody>
      </p:sp>
      <p:sp>
        <p:nvSpPr>
          <p:cNvPr id="33" name="Text 31"/>
          <p:cNvSpPr/>
          <p:nvPr/>
        </p:nvSpPr>
        <p:spPr>
          <a:xfrm>
            <a:off x="6360947" y="3163937"/>
            <a:ext cx="877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10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(Execute plan)</a:t>
            </a:r>
            <a:endParaRPr lang="en-US" sz="1100" b="1" dirty="0"/>
          </a:p>
        </p:txBody>
      </p:sp>
      <p:sp>
        <p:nvSpPr>
          <p:cNvPr id="34" name="Text 32"/>
          <p:cNvSpPr/>
          <p:nvPr/>
        </p:nvSpPr>
        <p:spPr>
          <a:xfrm>
            <a:off x="571500" y="4109144"/>
            <a:ext cx="8001000" cy="554295"/>
          </a:xfrm>
          <a:prstGeom prst="roundRect">
            <a:avLst>
              <a:gd name="adj" fmla="val 23077"/>
            </a:avLst>
          </a:prstGeom>
          <a:solidFill>
            <a:srgbClr val="E5E7EB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35" name="Shape 33"/>
          <p:cNvSpPr/>
          <p:nvPr/>
        </p:nvSpPr>
        <p:spPr>
          <a:xfrm>
            <a:off x="585788" y="4137661"/>
            <a:ext cx="0" cy="525778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368" y="4333875"/>
            <a:ext cx="78598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600" b="1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"Plans are worthless, but planning is everything." — Dwight D. Eisenhower</a:t>
            </a:r>
            <a:endParaRPr lang="en-US" sz="1600" b="1" dirty="0"/>
          </a:p>
        </p:txBody>
      </p:sp>
      <p:sp>
        <p:nvSpPr>
          <p:cNvPr id="37" name="Text 35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3</a:t>
            </a:r>
            <a:endParaRPr lang="en-US" sz="1050" b="1" dirty="0"/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8EC0A215-B5DF-4D36-B8EF-01954C0B2D0D}"/>
              </a:ext>
            </a:extLst>
          </p:cNvPr>
          <p:cNvCxnSpPr>
            <a:cxnSpLocks/>
          </p:cNvCxnSpPr>
          <p:nvPr/>
        </p:nvCxnSpPr>
        <p:spPr>
          <a:xfrm rot="16200000" flipV="1">
            <a:off x="3912604" y="2150053"/>
            <a:ext cx="672406" cy="3796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Patterns That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patterns consistently produce better plans by guiding LLM reasoning: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18171"/>
            <a:ext cx="8382000" cy="2682329"/>
          </a:xfrm>
          <a:prstGeom prst="roundRect">
            <a:avLst>
              <a:gd name="adj" fmla="val 1420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1327696"/>
            <a:ext cx="8362950" cy="7239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723727" y="13276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0525" y="2046833"/>
            <a:ext cx="133796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775" y="1551533"/>
            <a:ext cx="116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45334" y="13276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28490" y="2046833"/>
            <a:ext cx="142160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3740" y="1551533"/>
            <a:ext cx="1246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9619" y="13276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0096" y="2046833"/>
            <a:ext cx="309428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5346" y="1551533"/>
            <a:ext cx="29521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4382" y="204683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9632" y="1551533"/>
            <a:ext cx="2364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723727" y="20515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525" y="3300449"/>
            <a:ext cx="133796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775" y="2142083"/>
            <a:ext cx="11606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Constraint-Based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145334" y="20515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28490" y="3300449"/>
            <a:ext cx="142160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3740" y="2142083"/>
            <a:ext cx="1246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Multi-option decisions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39619" y="205159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0096" y="3300449"/>
            <a:ext cx="309428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5346" y="2064040"/>
            <a:ext cx="2952146" cy="62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</a:t>
            </a: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Bad: Add tests (and get something)</a:t>
            </a:r>
            <a:b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</a:t>
            </a: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Good: Add tests to cover each API use, common error conditions, error handling, </a:t>
            </a:r>
            <a:endParaRPr lang="en-US" sz="90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</a:t>
            </a: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fluff, Must have test coverage of 85% or more consistent with high-quality best practices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44382" y="3300449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9632" y="214208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80% of options upfront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0525" y="3269017"/>
            <a:ext cx="8362950" cy="79629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723727" y="3269017"/>
            <a:ext cx="0" cy="796291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0525" y="4314572"/>
            <a:ext cx="133796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775" y="3369029"/>
            <a:ext cx="1160699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Request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145334" y="3269017"/>
            <a:ext cx="0" cy="796291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28490" y="4314572"/>
            <a:ext cx="142160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3740" y="3515714"/>
            <a:ext cx="1246013" cy="29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flaws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39619" y="3269017"/>
            <a:ext cx="0" cy="796291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0096" y="4314572"/>
            <a:ext cx="309428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5346" y="3251812"/>
            <a:ext cx="2952146" cy="82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plan and identify: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 Wrong assumptions?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 What could fail?</a:t>
            </a:r>
            <a:endParaRPr lang="en-US" sz="1050" dirty="0"/>
          </a:p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 Alternatives? Hidden costs?"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44382" y="4314572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9632" y="3369029"/>
            <a:ext cx="2364662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critical thinking, surfaces risks proactively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723727" y="428416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775" y="4398466"/>
            <a:ext cx="116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145334" y="428416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3740" y="4265116"/>
            <a:ext cx="1246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tools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239619" y="4284166"/>
            <a:ext cx="0" cy="7239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5346" y="4251870"/>
            <a:ext cx="295214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"Research [topic] and create table with Name, Purpose, Pros/Cons, and Verdict (Use/Defer/Reject)"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39632" y="4265116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structured thinking, easy to compare options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947" y="285750"/>
            <a:ext cx="77141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Anti-Patterns: Common Mistakes That Waste Time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8382000" cy="3048000"/>
          </a:xfrm>
          <a:prstGeom prst="roundRect">
            <a:avLst>
              <a:gd name="adj" fmla="val 1250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962025"/>
            <a:ext cx="8362950" cy="6477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25576" y="9620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0525" y="16049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775" y="1147763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98106" y="9620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0338" y="16049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5588" y="1147763"/>
            <a:ext cx="15019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9619" y="9620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02869" y="16049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8119" y="1147763"/>
            <a:ext cx="21843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Fails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44382" y="16049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9632" y="1147763"/>
            <a:ext cx="2364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25576" y="16097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525" y="22526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" y="1795463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Q&amp;A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98106" y="16097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30338" y="22526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25588" y="1662113"/>
            <a:ext cx="15019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solution without clarifying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9619" y="16097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02869" y="22526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98119" y="1795463"/>
            <a:ext cx="21843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wrong thing fast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44382" y="22526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9632" y="166211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2-4 rounds of questions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225576" y="22574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0525" y="29003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775" y="2443163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First Plan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898106" y="22574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30338" y="29003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25588" y="2176463"/>
            <a:ext cx="15019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first solution, skip critique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39619" y="22574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02869" y="29003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98119" y="2309813"/>
            <a:ext cx="2184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better alternatives, ignore risks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44382" y="29003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9632" y="230981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request critique explicitly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225576" y="29051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0525" y="35480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775" y="2957513"/>
            <a:ext cx="16725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Success Criteria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898106" y="29051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30338" y="35480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25588" y="2957513"/>
            <a:ext cx="15019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"done" definition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239619" y="29051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02869" y="35480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98119" y="2957513"/>
            <a:ext cx="2184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know when complete, scope creeps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244382" y="35480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9632" y="295751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verification steps upfront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2225576" y="35528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525" y="4195763"/>
            <a:ext cx="18398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5775" y="3738563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in Isolation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3898106" y="35528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30338" y="4195763"/>
            <a:ext cx="16725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25588" y="3471863"/>
            <a:ext cx="15019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without researching codebase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239619" y="35528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02869" y="4195763"/>
            <a:ext cx="2341513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98119" y="3605213"/>
            <a:ext cx="2184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Reinvent solutions, inconsistency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244382" y="4195763"/>
            <a:ext cx="2508796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39632" y="3605213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Explore agent to find existing patterns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2225576" y="42005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5775" y="4391025"/>
            <a:ext cx="167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Over-Planning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3898106" y="42005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30349" y="4195763"/>
            <a:ext cx="15019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edge cases that don't exist yet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239619" y="4200525"/>
            <a:ext cx="0" cy="6477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98119" y="4257675"/>
            <a:ext cx="2184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paralysis, YAGNI violations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339632" y="4257675"/>
            <a:ext cx="23646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80% case first, iterate when necessary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59995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11966" y="155245"/>
            <a:ext cx="51200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Planning Fundamentals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74719"/>
            <a:ext cx="4000500" cy="363289"/>
          </a:xfrm>
          <a:prstGeom prst="roundRect">
            <a:avLst>
              <a:gd name="adj" fmla="val 1258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231869"/>
            <a:ext cx="384733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2500" y="666750"/>
            <a:ext cx="4000500" cy="1745456"/>
          </a:xfrm>
          <a:prstGeom prst="roundRect">
            <a:avLst>
              <a:gd name="adj" fmla="val 2619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95850" y="762000"/>
            <a:ext cx="384733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50"/>
              </a:spcAft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When to Plan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5850" y="1050131"/>
            <a:ext cx="3771900" cy="12668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changes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approaches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requirements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62500" y="2526506"/>
            <a:ext cx="4000500" cy="1412081"/>
          </a:xfrm>
          <a:prstGeom prst="roundRect">
            <a:avLst>
              <a:gd name="adj" fmla="val 3238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95850" y="2621756"/>
            <a:ext cx="384733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5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When to Skip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5850" y="2909888"/>
            <a:ext cx="3771900" cy="9334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Single-line fixes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Obvious implementations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hotfixes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62500" y="4052888"/>
            <a:ext cx="4000500" cy="655141"/>
          </a:xfrm>
          <a:prstGeom prst="roundRect">
            <a:avLst>
              <a:gd name="adj" fmla="val 6979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A2B14B-9EE2-4092-BFD2-0A98B2BF7F34}"/>
              </a:ext>
            </a:extLst>
          </p:cNvPr>
          <p:cNvGrpSpPr/>
          <p:nvPr/>
        </p:nvGrpSpPr>
        <p:grpSpPr>
          <a:xfrm>
            <a:off x="1912089" y="1633258"/>
            <a:ext cx="2718392" cy="2567584"/>
            <a:chOff x="1912089" y="1125289"/>
            <a:chExt cx="2718392" cy="2567584"/>
          </a:xfrm>
        </p:grpSpPr>
        <p:sp>
          <p:nvSpPr>
            <p:cNvPr id="6" name="Text 4"/>
            <p:cNvSpPr/>
            <p:nvPr/>
          </p:nvSpPr>
          <p:spPr>
            <a:xfrm>
              <a:off x="1912089" y="1125289"/>
              <a:ext cx="2593237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spcAft>
                  <a:spcPts val="600"/>
                </a:spcAft>
                <a:buNone/>
              </a:pPr>
              <a:r>
                <a:rPr lang="en-US" sz="150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1. Planning isn't overhead</a:t>
              </a:r>
              <a:endParaRPr lang="en-US" sz="15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054965" y="1468189"/>
              <a:ext cx="2326536" cy="213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spcAft>
                  <a:spcPts val="900"/>
                </a:spcAft>
                <a:buNone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It prevents rework (6-10x ROI)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912089" y="1795760"/>
              <a:ext cx="232653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spcAft>
                  <a:spcPts val="600"/>
                </a:spcAft>
                <a:buNone/>
              </a:pPr>
              <a:r>
                <a:rPr lang="en-US" sz="150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 Use the 5-phase cycle</a:t>
              </a:r>
              <a:endParaRPr lang="en-US" sz="15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054965" y="2138660"/>
              <a:ext cx="2287674" cy="213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spcAft>
                  <a:spcPts val="900"/>
                </a:spcAft>
                <a:buNone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With iteration loops when needed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912089" y="2466231"/>
              <a:ext cx="228767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spcAft>
                  <a:spcPts val="600"/>
                </a:spcAft>
                <a:buNone/>
              </a:pPr>
              <a:r>
                <a:rPr lang="en-US" sz="150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3. Apply proven patterns</a:t>
              </a:r>
              <a:endParaRPr lang="en-US" sz="15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054964" y="2809131"/>
              <a:ext cx="2575517" cy="213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spcAft>
                  <a:spcPts val="900"/>
                </a:spcAft>
                <a:buNone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Constraint-based, critique, exploration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912089" y="3136702"/>
              <a:ext cx="2287673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spcAft>
                  <a:spcPts val="600"/>
                </a:spcAft>
                <a:buNone/>
              </a:pPr>
              <a:r>
                <a:rPr lang="en-US" sz="150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4. Avoid anti-patterns</a:t>
              </a:r>
              <a:endParaRPr lang="en-US" sz="15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054964" y="3479602"/>
              <a:ext cx="2575517" cy="213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Skip Q&amp;A, accept first plan, no criteria</a:t>
              </a:r>
              <a:endParaRPr lang="en-US" sz="12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4781550" y="666750"/>
            <a:ext cx="0" cy="174545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6490" y="2526506"/>
            <a:ext cx="0" cy="141208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6490" y="4052888"/>
            <a:ext cx="0" cy="65514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8131" y="4148137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time: &lt;30min minutes typical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8131" y="4399508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6-10x (time saved vs invested)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6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2F46231-980E-4478-A29A-A1CCCD5D1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9" y="1634085"/>
            <a:ext cx="1750811" cy="25721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72272" y="285750"/>
            <a:ext cx="47994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DevOps Tooling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58180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SparseTagging Project demonstrates all five planning phases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598712"/>
            <a:ext cx="8382000" cy="2706886"/>
          </a:xfrm>
          <a:prstGeom prst="roundRect">
            <a:avLst>
              <a:gd name="adj" fmla="val 1689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598712"/>
            <a:ext cx="0" cy="270688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751112"/>
            <a:ext cx="81998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Point: Initial Vague Requirement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2105323"/>
            <a:ext cx="8039100" cy="1476375"/>
          </a:xfrm>
          <a:prstGeom prst="roundRect">
            <a:avLst>
              <a:gd name="adj" fmla="val 258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325" y="2229148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DevOps tools to increase code quality. Requirements: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95325" y="2505373"/>
            <a:ext cx="7791450" cy="952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fluff (only tools with demonstrated value)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code production-ready (coverage, quality gates)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based on practical value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1500" y="3695998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Clear: Goals and constraints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1500" y="3953173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Unclear: Implementation details, specific tools, success metrics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81000" y="4515148"/>
            <a:ext cx="8382000" cy="441871"/>
          </a:xfrm>
          <a:prstGeom prst="roundRect">
            <a:avLst>
              <a:gd name="adj" fmla="val 10347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4515148"/>
            <a:ext cx="0" cy="44187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247" y="4629448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 A few minutes of Q&amp;A transforms this into an execution-ready 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73427"/>
            <a:ext cx="8763000" cy="4762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75949" y="285750"/>
            <a:ext cx="53921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Q&amp;A Refinement (15 minutes)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348162" y="852297"/>
            <a:ext cx="4720591" cy="314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450"/>
              </a:spcAft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rounds of Q&amp;A transformed vague requirements into specific implementation plan:</a:t>
            </a:r>
            <a:endParaRPr lang="en-US" sz="1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B9CFDB-C040-4EBE-83F2-2882EE5A72E1}"/>
              </a:ext>
            </a:extLst>
          </p:cNvPr>
          <p:cNvGrpSpPr/>
          <p:nvPr/>
        </p:nvGrpSpPr>
        <p:grpSpPr>
          <a:xfrm>
            <a:off x="56197" y="910022"/>
            <a:ext cx="8469630" cy="1281410"/>
            <a:chOff x="381000" y="610046"/>
            <a:chExt cx="8469630" cy="1281410"/>
          </a:xfrm>
        </p:grpSpPr>
        <p:sp>
          <p:nvSpPr>
            <p:cNvPr id="5" name="Text 3"/>
            <p:cNvSpPr/>
            <p:nvPr/>
          </p:nvSpPr>
          <p:spPr>
            <a:xfrm>
              <a:off x="381000" y="610046"/>
              <a:ext cx="4107180" cy="1281410"/>
            </a:xfrm>
            <a:prstGeom prst="roundRect">
              <a:avLst>
                <a:gd name="adj" fmla="val 3568"/>
              </a:avLst>
            </a:prstGeom>
            <a:solidFill>
              <a:srgbClr val="E0E7FF">
                <a:alpha val="6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00050" y="610046"/>
              <a:ext cx="0" cy="1281410"/>
            </a:xfrm>
            <a:prstGeom prst="line">
              <a:avLst/>
            </a:prstGeom>
            <a:noFill/>
            <a:ln w="38100">
              <a:solidFill>
                <a:srgbClr val="1E3A8A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95300" y="686246"/>
              <a:ext cx="8355330" cy="195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40"/>
                </a:lnSpc>
                <a:spcAft>
                  <a:spcPts val="300"/>
                </a:spcAft>
                <a:buNone/>
              </a:pPr>
              <a:r>
                <a:rPr lang="en-US" sz="105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Round 1: Platform &amp; Scope</a:t>
              </a:r>
              <a:endParaRPr lang="en-US" sz="10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95300" y="919907"/>
              <a:ext cx="8191500" cy="895350"/>
            </a:xfrm>
            <a:prstGeom prst="rect">
              <a:avLst/>
            </a:prstGeom>
            <a:noFill/>
            <a:ln/>
          </p:spPr>
          <p:txBody>
            <a:bodyPr wrap="square" lIns="85725" tIns="0" rIns="0" bIns="0" rtlCol="0" anchor="t"/>
            <a:lstStyle/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Which CI/CD platform? → GitHub Actions</a:t>
              </a:r>
              <a:endParaRPr lang="en-US" sz="1200" dirty="0"/>
            </a:p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Coverage target? → ≥85%</a:t>
              </a:r>
              <a:endParaRPr lang="en-US" sz="1200" dirty="0"/>
            </a:p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Pre-commit scope? → Full suite (catch issues before CI)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CADC45E-B835-49E9-A044-9D554DE9259E}"/>
              </a:ext>
            </a:extLst>
          </p:cNvPr>
          <p:cNvGrpSpPr/>
          <p:nvPr/>
        </p:nvGrpSpPr>
        <p:grpSpPr>
          <a:xfrm>
            <a:off x="4367781" y="1431574"/>
            <a:ext cx="8469630" cy="1835348"/>
            <a:chOff x="381000" y="2043857"/>
            <a:chExt cx="8469630" cy="1835348"/>
          </a:xfrm>
        </p:grpSpPr>
        <p:sp>
          <p:nvSpPr>
            <p:cNvPr id="9" name="Text 7"/>
            <p:cNvSpPr/>
            <p:nvPr/>
          </p:nvSpPr>
          <p:spPr>
            <a:xfrm>
              <a:off x="381000" y="2043857"/>
              <a:ext cx="4107177" cy="1835348"/>
            </a:xfrm>
            <a:prstGeom prst="roundRect">
              <a:avLst>
                <a:gd name="adj" fmla="val 3568"/>
              </a:avLst>
            </a:prstGeom>
            <a:solidFill>
              <a:srgbClr val="DBEAFE">
                <a:alpha val="6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00049" y="2043857"/>
              <a:ext cx="57531" cy="1820882"/>
            </a:xfrm>
            <a:prstGeom prst="line">
              <a:avLst/>
            </a:prstGeom>
            <a:noFill/>
            <a:ln w="38100">
              <a:solidFill>
                <a:srgbClr val="1E3A8A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95300" y="2120057"/>
              <a:ext cx="8355330" cy="195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40"/>
                </a:lnSpc>
                <a:spcAft>
                  <a:spcPts val="300"/>
                </a:spcAft>
                <a:buNone/>
              </a:pPr>
              <a:r>
                <a:rPr lang="en-US" sz="105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Round 2: Tool Preferences</a:t>
              </a:r>
              <a:endParaRPr lang="en-US" sz="10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95300" y="2353717"/>
              <a:ext cx="8191500" cy="895350"/>
            </a:xfrm>
            <a:prstGeom prst="rect">
              <a:avLst/>
            </a:prstGeom>
            <a:noFill/>
            <a:ln/>
          </p:spPr>
          <p:txBody>
            <a:bodyPr wrap="square" lIns="85725" tIns="0" rIns="0" bIns="0" rtlCol="0" anchor="t"/>
            <a:lstStyle/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Formatting: Consolidate or separate? → Consolidate </a:t>
              </a:r>
              <a:b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(fewer dependencies)</a:t>
              </a:r>
              <a:endParaRPr lang="en-US" sz="1200" dirty="0"/>
            </a:p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 matrix: Which Python versions? → 3.10-3.13 </a:t>
              </a:r>
              <a:b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(broad compatibility)</a:t>
              </a:r>
              <a:endParaRPr lang="en-US" sz="1200" dirty="0"/>
            </a:p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External services? → CodeCov yes, SonarCloud defer</a:t>
              </a:r>
              <a:endParaRPr lang="en-US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AE296C-98C9-46C9-B02C-53CE775BC7C3}"/>
              </a:ext>
            </a:extLst>
          </p:cNvPr>
          <p:cNvGrpSpPr/>
          <p:nvPr/>
        </p:nvGrpSpPr>
        <p:grpSpPr>
          <a:xfrm>
            <a:off x="19050" y="2592019"/>
            <a:ext cx="8469630" cy="1030633"/>
            <a:chOff x="381000" y="3477667"/>
            <a:chExt cx="8469630" cy="1030633"/>
          </a:xfrm>
        </p:grpSpPr>
        <p:sp>
          <p:nvSpPr>
            <p:cNvPr id="13" name="Text 11"/>
            <p:cNvSpPr/>
            <p:nvPr/>
          </p:nvSpPr>
          <p:spPr>
            <a:xfrm>
              <a:off x="381000" y="3477667"/>
              <a:ext cx="4298630" cy="1030633"/>
            </a:xfrm>
            <a:prstGeom prst="roundRect">
              <a:avLst>
                <a:gd name="adj" fmla="val 5937"/>
              </a:avLst>
            </a:prstGeom>
            <a:solidFill>
              <a:srgbClr val="D1FAE5">
                <a:alpha val="6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00050" y="3477667"/>
              <a:ext cx="0" cy="770037"/>
            </a:xfrm>
            <a:prstGeom prst="line">
              <a:avLst/>
            </a:prstGeom>
            <a:noFill/>
            <a:ln w="38100">
              <a:solidFill>
                <a:srgbClr val="10B981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95300" y="3539877"/>
              <a:ext cx="8355330" cy="195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40"/>
                </a:lnSpc>
                <a:spcAft>
                  <a:spcPts val="300"/>
                </a:spcAft>
                <a:buNone/>
              </a:pPr>
              <a:r>
                <a:rPr lang="en-US" sz="1200" b="1" dirty="0">
                  <a:solidFill>
                    <a:srgbClr val="065F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Round 3: Tool Consolidation Discovery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95300" y="3787527"/>
              <a:ext cx="8355330" cy="1777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spcAft>
                  <a:spcPts val="225"/>
                </a:spcAft>
                <a:buNone/>
              </a:pPr>
              <a:r>
                <a:rPr lang="en-US" sz="105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Research revealed: ruff replaces 6 separate tools (black, flake8, </a:t>
              </a:r>
              <a:br>
                <a:rPr lang="en-US" sz="105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sz="1050" b="1" dirty="0" err="1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isort</a:t>
              </a:r>
              <a:r>
                <a:rPr lang="en-US" sz="105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pyupgrade, autoflake, pydocstyle)</a:t>
              </a:r>
              <a:endParaRPr lang="en-US" sz="1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00050" y="4194882"/>
              <a:ext cx="8355330" cy="1777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50" b="1" dirty="0">
                  <a:solidFill>
                    <a:srgbClr val="065F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 6 to 1 consolidation perfectly aligns with "no fluff" constraint</a:t>
              </a:r>
              <a:endParaRPr lang="en-US" sz="10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48FB94-5CB6-43D2-BA36-C92F8E2CF4A1}"/>
              </a:ext>
            </a:extLst>
          </p:cNvPr>
          <p:cNvGrpSpPr/>
          <p:nvPr/>
        </p:nvGrpSpPr>
        <p:grpSpPr>
          <a:xfrm>
            <a:off x="75247" y="3896257"/>
            <a:ext cx="8316468" cy="1156577"/>
            <a:chOff x="413766" y="3766840"/>
            <a:chExt cx="8316468" cy="1156577"/>
          </a:xfrm>
        </p:grpSpPr>
        <p:sp>
          <p:nvSpPr>
            <p:cNvPr id="18" name="Text 16"/>
            <p:cNvSpPr/>
            <p:nvPr/>
          </p:nvSpPr>
          <p:spPr>
            <a:xfrm>
              <a:off x="2383631" y="3766840"/>
              <a:ext cx="5407819" cy="1090910"/>
            </a:xfrm>
            <a:prstGeom prst="roundRect">
              <a:avLst>
                <a:gd name="adj" fmla="val 3321"/>
              </a:avLst>
            </a:prstGeom>
            <a:solidFill>
              <a:srgbClr val="FFFFFF"/>
            </a:solidFill>
            <a:ln w="19050">
              <a:solidFill>
                <a:srgbClr val="1E3A8A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13766" y="3821163"/>
              <a:ext cx="8316468" cy="195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40"/>
                </a:lnSpc>
                <a:spcAft>
                  <a:spcPts val="450"/>
                </a:spcAft>
                <a:buNone/>
              </a:pPr>
              <a:r>
                <a:rPr lang="en-US" sz="105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Result: Clear Implementation Requirements</a:t>
              </a:r>
              <a:endParaRPr lang="en-US" sz="10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383632" y="4028067"/>
              <a:ext cx="5564028" cy="895350"/>
            </a:xfrm>
            <a:prstGeom prst="rect">
              <a:avLst/>
            </a:prstGeom>
            <a:noFill/>
            <a:ln/>
          </p:spPr>
          <p:txBody>
            <a:bodyPr wrap="square" lIns="85725" tIns="0" rIns="0" bIns="0" rtlCol="0" anchor="t"/>
            <a:lstStyle/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Platform: GitHub Actions • Tool: ruff (consolidates 6 tools)</a:t>
              </a:r>
              <a:endParaRPr lang="en-US" sz="1200" dirty="0"/>
            </a:p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Pre-commit: ruff + mypy + pytest • Coverage: CodeCov ≥85%</a:t>
              </a:r>
              <a:endParaRPr lang="en-US" sz="1200" dirty="0"/>
            </a:p>
            <a:p>
              <a:pPr marL="85725" indent="-85725" algn="l">
                <a:lnSpc>
                  <a:spcPts val="2100"/>
                </a:lnSpc>
                <a:spcAft>
                  <a:spcPts val="75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 Matrix: 5 versions × 2 OS • Approach: Consolidate over best-in-class</a:t>
              </a:r>
              <a:endParaRPr lang="en-US" sz="12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297180" y="5052834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75116" y="285750"/>
            <a:ext cx="49937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Exploration (20 minutes)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769025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Comparison Matrix - Research alternatives before committing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1067098"/>
            <a:ext cx="8382000" cy="2469356"/>
          </a:xfrm>
          <a:prstGeom prst="roundRect">
            <a:avLst>
              <a:gd name="adj" fmla="val 1851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67098"/>
            <a:ext cx="0" cy="246935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1181398"/>
            <a:ext cx="827760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Decision: ruff consolidates 6 tools into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3400" y="1488579"/>
            <a:ext cx="8115300" cy="193357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ruff: Lint + Format, 10-100x faster, replaces 6 tools → ✅ Use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black, flake8, isort, pylint: All made redundant by ruff → ❌ Skip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mypy: Type checking (existing) → ✅ Keep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pytest: Testing (existing) → ✅ Keep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CodeCov: Coverage tracking → ✅ Add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bandit: Security → ⏸️ Defer to future phase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3765054"/>
            <a:ext cx="8382000" cy="1253133"/>
          </a:xfrm>
          <a:prstGeom prst="roundRect">
            <a:avLst>
              <a:gd name="adj" fmla="val 3648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765054"/>
            <a:ext cx="0" cy="1253133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3879354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Evaluated (9 total):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" y="4168825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Selected: ruff (new), mypy (keep), pytest (keep), CodeCov (new)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400" y="4429720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Rejected: black, flake8, isort, pylint (redundant)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400" y="4690616"/>
            <a:ext cx="82776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⏸️ Deferred: bandit (security - evaluate later)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5246787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Simpler dependency tree, faster CI, 66% fewer tools to maintain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6091"/>
            <a:ext cx="8763000" cy="4762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79278" y="147340"/>
            <a:ext cx="69854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&amp; 4: Critique and Replanning (20 minutes)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589947"/>
            <a:ext cx="85496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identified 5 risks - Plan expanded from 4 to 8 phases with mitigations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1000" y="792481"/>
            <a:ext cx="8382000" cy="2023021"/>
          </a:xfrm>
          <a:prstGeom prst="roundRect">
            <a:avLst>
              <a:gd name="adj" fmla="val 2260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792481"/>
            <a:ext cx="0" cy="202302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887731"/>
            <a:ext cx="83164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Identified: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4350" y="1158152"/>
            <a:ext cx="8153400" cy="1562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Slowness: 173 tests = 30-60s → Document --no-verify bypass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Matrix Cost: 10 combos × 5 min = 50 min/PR → Add pip caching, separate quality job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 Breaking Changes: Fast-moving project → Pin version (ruff&gt;=0.1.14,&lt;0.2)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Onboarding: New contributors forget → Clear CONTRIBUTING.md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Security: Tools ≠ bug-free code → Document limitations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3008293"/>
            <a:ext cx="4000500" cy="1714500"/>
          </a:xfrm>
          <a:prstGeom prst="roundRect">
            <a:avLst>
              <a:gd name="adj" fmla="val 2667"/>
            </a:avLst>
          </a:prstGeom>
          <a:solidFill>
            <a:srgbClr val="FEE2E2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008293"/>
            <a:ext cx="0" cy="17145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3201174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Critique (4 phases):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4350" y="3373964"/>
            <a:ext cx="3771900" cy="12382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Ruff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Pre-commit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GitHub Actions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CodeCov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20209" y="2887565"/>
            <a:ext cx="4000500" cy="2151043"/>
          </a:xfrm>
          <a:prstGeom prst="roundRect">
            <a:avLst>
              <a:gd name="adj" fmla="val 2667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20209" y="3033312"/>
            <a:ext cx="0" cy="17145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4266" y="2896893"/>
            <a:ext cx="42071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Critique (8 phases):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795" y="3149323"/>
            <a:ext cx="4124705" cy="1598489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spcAft>
                <a:spcPts val="75"/>
              </a:spcAft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Ruff Configuration (+ pin version)</a:t>
            </a:r>
            <a:endParaRPr lang="en-US" sz="1200" dirty="0"/>
          </a:p>
          <a:p>
            <a:pPr marL="85725" indent="-85725" algn="l">
              <a:spcAft>
                <a:spcPts val="75"/>
              </a:spcAft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requirements-dev.txt</a:t>
            </a:r>
            <a:endParaRPr lang="en-US" sz="1200" dirty="0"/>
          </a:p>
          <a:p>
            <a:pPr marL="85725" indent="-85725" algn="l">
              <a:spcAft>
                <a:spcPts val="75"/>
              </a:spcAft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Pre-commit Config (+ document bypass)</a:t>
            </a:r>
            <a:endParaRPr lang="en-US" sz="1200" dirty="0"/>
          </a:p>
          <a:p>
            <a:pPr marL="85725" indent="-85725" algn="l">
              <a:spcAft>
                <a:spcPts val="75"/>
              </a:spcAft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GitHub Actions CI (+ caching)</a:t>
            </a:r>
            <a:endParaRPr lang="en-US" sz="1200" dirty="0"/>
          </a:p>
          <a:p>
            <a:pPr marL="85725" indent="-85725" algn="l">
              <a:spcAft>
                <a:spcPts val="75"/>
              </a:spcAft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CodeCov Integration</a:t>
            </a:r>
            <a:endParaRPr lang="en-US" sz="1200" dirty="0"/>
          </a:p>
          <a:p>
            <a:pPr marL="85725" indent="-85725" algn="l">
              <a:spcAft>
                <a:spcPts val="75"/>
              </a:spcAft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Documentation</a:t>
            </a:r>
            <a:endParaRPr lang="en-US" sz="1200" dirty="0"/>
          </a:p>
          <a:p>
            <a:pPr marL="85725" indent="-85725" algn="l">
              <a:spcAft>
                <a:spcPts val="75"/>
              </a:spcAft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Steps (audit, auto-fix, manual)</a:t>
            </a:r>
            <a:endParaRPr lang="en-US" sz="1200" dirty="0"/>
          </a:p>
          <a:p>
            <a:pPr marL="85725" indent="-85725" algn="l">
              <a:spcAft>
                <a:spcPts val="75"/>
              </a:spcAft>
              <a:buSzPct val="100000"/>
              <a:buChar char="•"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 (all 5 addressed)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762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25359" y="285750"/>
            <a:ext cx="56932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Execution Checklist (5 minutes)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935682"/>
            <a:ext cx="4086225" cy="3196084"/>
          </a:xfrm>
          <a:prstGeom prst="roundRect">
            <a:avLst>
              <a:gd name="adj" fmla="val 1431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4825" y="1059507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Tasks: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4825" y="130328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Add Ruff configuration to pyproject.toml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4825" y="150137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Update requirements-dev.txt (ruff&gt;=0.1.14,&lt;0.2)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4825" y="169946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Create .pre-commit-config.yaml (6-stage pipeline)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4825" y="1897559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Create .github/workflows/ci.yml (quality + 10-matrix)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4825" y="2133749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Tasks: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4825" y="2377529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Update CONTRIBUTING.md (pre-commit setup)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4825" y="257562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Update README.md (CI status and coverage badges)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4825" y="277371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Create docs/DEVOPS.md (comprehensive guide)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4825" y="3009900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Tasks: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4825" y="325368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Run ruff check --preview (audit current code)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825" y="3451771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Apply auto-fixes: ruff check --fix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4825" y="3649861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Manually fix remaining issues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825" y="3847951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Verify all 173 tests pass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6775" y="1064419"/>
            <a:ext cx="4086225" cy="2332583"/>
          </a:xfrm>
          <a:prstGeom prst="roundRect">
            <a:avLst>
              <a:gd name="adj" fmla="val 1960"/>
            </a:avLst>
          </a:prstGeom>
          <a:solidFill>
            <a:srgbClr val="DCFCE7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695825" y="1064419"/>
            <a:ext cx="0" cy="2332583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9175" y="1178719"/>
            <a:ext cx="3895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Criteria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29175" y="1468189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Pre-commit runs successfully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7275" y="1679525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(pre-commit run --all-files)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9175" y="1883271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Tests pass with ≥85% coverage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7275" y="2094607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(pytest --cov=src)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9175" y="2298353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Type checking passes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7275" y="2509689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(mypy src/ --strict)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9175" y="2713434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CI workflow runs on GitHub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9175" y="2924770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CodeCov integration active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7275" y="3136106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 comments enabled)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76775" y="3587502"/>
            <a:ext cx="4086225" cy="842368"/>
          </a:xfrm>
          <a:prstGeom prst="roundRect">
            <a:avLst>
              <a:gd name="adj" fmla="val 11011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752499" y="3701802"/>
            <a:ext cx="39347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Planning Time: &lt;60 minutes</a:t>
            </a:r>
            <a:b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Saved weeks of work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9</a:t>
            </a:r>
            <a:endParaRPr lang="en-US" sz="10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559F8A91-9851-46FA-A3EF-4859BEFEC2E6}"/>
              </a:ext>
            </a:extLst>
          </p:cNvPr>
          <p:cNvSpPr/>
          <p:nvPr/>
        </p:nvSpPr>
        <p:spPr>
          <a:xfrm>
            <a:off x="571500" y="4544170"/>
            <a:ext cx="8001000" cy="247650"/>
          </a:xfrm>
          <a:prstGeom prst="roundRect">
            <a:avLst>
              <a:gd name="adj" fmla="val 23077"/>
            </a:avLst>
          </a:prstGeom>
          <a:solidFill>
            <a:srgbClr val="FEF3C7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58FB48E0-DD6E-4619-8710-BF441387815E}"/>
              </a:ext>
            </a:extLst>
          </p:cNvPr>
          <p:cNvSpPr/>
          <p:nvPr/>
        </p:nvSpPr>
        <p:spPr>
          <a:xfrm>
            <a:off x="585788" y="4524375"/>
            <a:ext cx="0" cy="24765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082DA2CD-B951-4790-B1E5-23F5C40575FD}"/>
              </a:ext>
            </a:extLst>
          </p:cNvPr>
          <p:cNvSpPr/>
          <p:nvPr/>
        </p:nvSpPr>
        <p:spPr>
          <a:xfrm>
            <a:off x="435388" y="4640374"/>
            <a:ext cx="8518112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600" b="1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90% of a project takes 90% of the time. The last 10% takes the other 90%."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4572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666750"/>
            <a:ext cx="4000500" cy="2741057"/>
          </a:xfrm>
          <a:prstGeom prst="roundRect">
            <a:avLst>
              <a:gd name="adj" fmla="val 1490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666750"/>
            <a:ext cx="0" cy="306943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781050"/>
            <a:ext cx="380847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Created: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3400" y="1088231"/>
            <a:ext cx="3733800" cy="25336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pyproject.toml - 38 lines ruff config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requirements-dev.txt - dependencies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.pre-commit-config.yaml - 246 lines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.github/workflows/ci.yml - 339 lines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.codecov.yml - 23 lines (85% threshold)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CONTRIBUTING.md - 22 lines added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- CI/coverage badges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docs/DEVOPS.md - 450-line guide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508833"/>
            <a:ext cx="4000500" cy="1588947"/>
          </a:xfrm>
          <a:prstGeom prst="roundRect">
            <a:avLst>
              <a:gd name="adj" fmla="val 2536"/>
            </a:avLst>
          </a:prstGeom>
          <a:solidFill>
            <a:srgbClr val="E0E7FF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508833"/>
            <a:ext cx="0" cy="1588947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3623133"/>
            <a:ext cx="380847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Applied: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3400" y="3930315"/>
            <a:ext cx="3733800" cy="12668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 issues identified by ruff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auto-fixed (66% automation)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manually fixed (34% judgment)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173 tests passing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62500" y="666751"/>
            <a:ext cx="4381500" cy="201549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7943" y="819150"/>
            <a:ext cx="376961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Outcome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4900" y="1145381"/>
            <a:ext cx="4000500" cy="2400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quality gates → Comprehensive DevOps stack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→ Automated pre-commit + CI/CD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coverage → 85% tracked continuously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consolidation: 6 tools → 1 tool (ruff)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test regressions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53000" y="3092857"/>
            <a:ext cx="4000500" cy="1195983"/>
          </a:xfrm>
          <a:prstGeom prst="roundRect">
            <a:avLst>
              <a:gd name="adj" fmla="val 3823"/>
            </a:avLst>
          </a:prstGeom>
          <a:solidFill>
            <a:srgbClr val="DCFCE7">
              <a:alpha val="8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67300" y="3207157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Effectiveness: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67300" y="3477578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time: 90 minutes (60 planning + 30 execution)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67300" y="3719424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 phases completed as planned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67300" y="3961269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major surprises during execution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12</a:t>
            </a:r>
            <a:endParaRPr lang="en-US" sz="10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F4A0C211-42AC-4A5A-B22C-1E17BDE393E8}"/>
              </a:ext>
            </a:extLst>
          </p:cNvPr>
          <p:cNvSpPr/>
          <p:nvPr/>
        </p:nvSpPr>
        <p:spPr>
          <a:xfrm>
            <a:off x="2113979" y="289367"/>
            <a:ext cx="4916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Summary (30 minutes)</a:t>
            </a:r>
            <a:endParaRPr lang="en-US" sz="24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96CB2CAE-4B02-496A-8A3B-DB7FAAAB562E}"/>
              </a:ext>
            </a:extLst>
          </p:cNvPr>
          <p:cNvSpPr/>
          <p:nvPr/>
        </p:nvSpPr>
        <p:spPr>
          <a:xfrm>
            <a:off x="190500" y="2091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84C3EA48-C7F0-4674-95AA-597926744544}"/>
              </a:ext>
            </a:extLst>
          </p:cNvPr>
          <p:cNvSpPr/>
          <p:nvPr/>
        </p:nvSpPr>
        <p:spPr>
          <a:xfrm>
            <a:off x="2113979" y="264557"/>
            <a:ext cx="4916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Summary (30 minutes)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953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92187" y="285750"/>
            <a:ext cx="61596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DevOps Planning Walkthrough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919311"/>
            <a:ext cx="8382000" cy="2019300"/>
          </a:xfrm>
          <a:prstGeom prst="roundRect">
            <a:avLst>
              <a:gd name="adj" fmla="val 2264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919311"/>
            <a:ext cx="0" cy="20193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071711"/>
            <a:ext cx="8039100" cy="1714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Vague requirement → Q&amp;A refined to specific goals (15 min)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Exploration → Tool comparison revealed 6→1 consolidation (20 min)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Critique → 5 risks identified and mitigated (10 min)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Replanning → 4 phases expanded to 8 with risk mitigations (10 min)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Finalization → Execution checklist with verification criteria (5 min)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0050" y="3012579"/>
            <a:ext cx="0" cy="190872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A09C99-5383-4927-B8F5-96839A670A66}"/>
              </a:ext>
            </a:extLst>
          </p:cNvPr>
          <p:cNvGrpSpPr/>
          <p:nvPr/>
        </p:nvGrpSpPr>
        <p:grpSpPr>
          <a:xfrm>
            <a:off x="381000" y="2964150"/>
            <a:ext cx="8390382" cy="1908721"/>
            <a:chOff x="381000" y="3205311"/>
            <a:chExt cx="8390382" cy="1908721"/>
          </a:xfrm>
        </p:grpSpPr>
        <p:sp>
          <p:nvSpPr>
            <p:cNvPr id="8" name="Text 6"/>
            <p:cNvSpPr/>
            <p:nvPr/>
          </p:nvSpPr>
          <p:spPr>
            <a:xfrm>
              <a:off x="381000" y="3205311"/>
              <a:ext cx="8382000" cy="1908721"/>
            </a:xfrm>
            <a:prstGeom prst="roundRect">
              <a:avLst>
                <a:gd name="adj" fmla="val 2395"/>
              </a:avLst>
            </a:prstGeom>
            <a:solidFill>
              <a:srgbClr val="E0E7FF">
                <a:alpha val="6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71500" y="3357711"/>
              <a:ext cx="8199882" cy="213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spcAft>
                  <a:spcPts val="750"/>
                </a:spcAft>
                <a:buNone/>
              </a:pPr>
              <a:r>
                <a:rPr lang="en-US" sz="1200" b="1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Lessons: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71500" y="3666232"/>
              <a:ext cx="8039100" cy="1295400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Q&amp;A transforms vague→specific (prevents wrong solution)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Exploration reveals consolidation opportunities (6 tools → 1)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Critique doubles plan size but catches all risks proactively</a:t>
              </a:r>
              <a:endParaRPr lang="en-US" sz="1350" dirty="0"/>
            </a:p>
            <a:p>
              <a:pPr marL="95250" indent="-95250" algn="l">
                <a:lnSpc>
                  <a:spcPts val="21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Proper planning: 60 min investment → smooth 30 min execution (2:1 ROI)</a:t>
              </a:r>
              <a:endParaRPr lang="en-US" sz="13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5695950" y="3496864"/>
            <a:ext cx="31699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0 major surprises, all risks addressed, zero test regressions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13</a:t>
            </a:r>
            <a:endParaRPr lang="en-US" sz="10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E2045F7E-2A0A-42CA-93C4-B5FB0564F9A7}"/>
              </a:ext>
            </a:extLst>
          </p:cNvPr>
          <p:cNvSpPr/>
          <p:nvPr/>
        </p:nvSpPr>
        <p:spPr>
          <a:xfrm>
            <a:off x="403860" y="781407"/>
            <a:ext cx="854964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5-phase planning cycle demonstrated in 60 minutes: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81987" y="285750"/>
            <a:ext cx="4780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Cache Manager Integration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06636"/>
            <a:ext cx="4133850" cy="601861"/>
          </a:xfrm>
          <a:prstGeom prst="roundRect">
            <a:avLst>
              <a:gd name="adj" fmla="val 7596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706636"/>
            <a:ext cx="0" cy="60186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820936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query caching to sparse matrix library for repeated query speedup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365647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&amp; 2: Q&amp;A Refinement (2 rounds)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605558"/>
            <a:ext cx="4133850" cy="1143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1: Memory-bounded cache? → Yes, 10MB max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2: Eviction policy? → 256 entry limit + memory cap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2805708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Exploration</a:t>
            </a:r>
          </a:p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cs typeface="Arial" pitchFamily="34" charset="-120"/>
              </a:rPr>
              <a:t>Other approaches (dictionary, DB, etc.)</a:t>
            </a:r>
          </a:p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cs typeface="Arial" pitchFamily="34" charset="-120"/>
              </a:rPr>
              <a:t>What is the best fit?</a:t>
            </a:r>
          </a:p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cs typeface="Arial" pitchFamily="34" charset="-120"/>
              </a:rPr>
              <a:t>What is standard in similar situations?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3887152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Critique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4127063"/>
            <a:ext cx="4133850" cy="952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safety? → Not thread-safe (documented)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collisions? → MD5 hash (negligible risk)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enforcement? → Track entries + sizes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9150" y="827038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Summary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9150" y="1066949"/>
            <a:ext cx="4133850" cy="19050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src/cache_manager.py - 175 lines created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@invalidates_cache decorator added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test cases, all passing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100-170x speedup for cached queries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Stays under 10MB limit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29150" y="3029099"/>
            <a:ext cx="4133850" cy="1477863"/>
          </a:xfrm>
          <a:prstGeom prst="roundRect">
            <a:avLst>
              <a:gd name="adj" fmla="val 3094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8200" y="3029099"/>
            <a:ext cx="0" cy="1477863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1550" y="3143399"/>
            <a:ext cx="394449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1550" y="3383310"/>
            <a:ext cx="3944493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phase (10 minutes) prevented premature choice of lru_cache. Would have caused memory issues in production.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1550" y="4019401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25 min planning → saved 8+ hours refactoring (10x return)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NOT Operator Bug Fix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12912"/>
            <a:ext cx="4133850" cy="601861"/>
          </a:xfrm>
          <a:prstGeom prst="roundRect">
            <a:avLst>
              <a:gd name="adj" fmla="val 7596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12912"/>
            <a:ext cx="0" cy="60186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027212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matrix NOT operator returns wrong results - includes rows with no tags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571923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811834"/>
            <a:ext cx="4216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Wrong: Uses all rows (0 to n_rows-1) including empty rows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055614"/>
            <a:ext cx="4216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Query returns 9,847 rows when only 347 expected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2299395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2954743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Rationale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000" y="3194654"/>
            <a:ext cx="4216527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matrices represent "absence of data" not "data with value zero". Users expect NOT to operate only on rows that exist.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3811696"/>
            <a:ext cx="42165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Choice: Chosen to reason properly on non-existent data vs </a:t>
            </a:r>
            <a:r>
              <a:rPr lang="en-US" sz="105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nrmal</a:t>
            </a: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correctness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773757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Summary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9150" y="1013668"/>
            <a:ext cx="4133850" cy="1562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src/sparsetag.py - 9 lines changed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tests/test_critical_bugs.py - Test added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docs/ARCHITECTURE.md - 30 lines documenting rationale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177 tests passing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29150" y="2632918"/>
            <a:ext cx="4133850" cy="1927324"/>
          </a:xfrm>
          <a:prstGeom prst="roundRect">
            <a:avLst>
              <a:gd name="adj" fmla="val 2372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8200" y="2632918"/>
            <a:ext cx="0" cy="1927324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1550" y="2747218"/>
            <a:ext cx="394449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1550" y="2987129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analysis (15 minutes) prevented implementing mathematically "correct" but practically wrong fix.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1550" y="3436590"/>
            <a:ext cx="3944493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in ARCHITECTURE.md prevents future confusion: "Why doesn't NOT return mathematical complement?"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81550" y="4072682"/>
            <a:ext cx="39444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15 min planning → prevented days of wrong implementation + ongoing confusion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IV: Best Practices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8001000" cy="716161"/>
          </a:xfrm>
          <a:prstGeom prst="roundRect">
            <a:avLst>
              <a:gd name="adj" fmla="val 6384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952500"/>
            <a:ext cx="0" cy="71616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085850"/>
            <a:ext cx="785012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You've Built the Foundation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50" y="1348680"/>
            <a:ext cx="7850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Five-phase planning cycle, prompt patterns, and real examples showing 10x ROI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859161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Advanced Techniques 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2217241"/>
            <a:ext cx="8001000" cy="1390650"/>
          </a:xfrm>
          <a:prstGeom prst="roundRect">
            <a:avLst>
              <a:gd name="adj" fmla="val 3288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0550" y="2217241"/>
            <a:ext cx="0" cy="139065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900" y="2331541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Extended Thinking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3900" y="2560141"/>
            <a:ext cx="773430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planning with multiple trade-offs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problems without existing patterns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Allocating extended reasoning time (up to 32k tokens)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1114" y="3712071"/>
            <a:ext cx="8001000" cy="1390650"/>
          </a:xfrm>
          <a:prstGeom prst="roundRect">
            <a:avLst>
              <a:gd name="adj" fmla="val 3288"/>
            </a:avLst>
          </a:prstGeom>
          <a:solidFill>
            <a:srgbClr val="CCFBF1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3722191"/>
            <a:ext cx="0" cy="139065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" y="3836491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Context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3900" y="4065091"/>
            <a:ext cx="773430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context between planning phases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/compact during cycles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Planning-specific context patterns</a:t>
            </a:r>
            <a:endParaRPr lang="en-US" sz="13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64352A-CC6C-4510-9F18-7B8C93DD894D}"/>
              </a:ext>
            </a:extLst>
          </p:cNvPr>
          <p:cNvGrpSpPr/>
          <p:nvPr/>
        </p:nvGrpSpPr>
        <p:grpSpPr>
          <a:xfrm>
            <a:off x="4865369" y="1891308"/>
            <a:ext cx="4000500" cy="926009"/>
            <a:chOff x="4667250" y="2968227"/>
            <a:chExt cx="4000500" cy="926009"/>
          </a:xfrm>
        </p:grpSpPr>
        <p:sp>
          <p:nvSpPr>
            <p:cNvPr id="24" name="Text 22"/>
            <p:cNvSpPr/>
            <p:nvPr/>
          </p:nvSpPr>
          <p:spPr>
            <a:xfrm>
              <a:off x="4667250" y="2968227"/>
              <a:ext cx="4000500" cy="868263"/>
            </a:xfrm>
            <a:prstGeom prst="roundRect">
              <a:avLst>
                <a:gd name="adj" fmla="val 12403"/>
              </a:avLst>
            </a:prstGeom>
            <a:solidFill>
              <a:srgbClr val="E5E7EB">
                <a:alpha val="7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681538" y="2968227"/>
              <a:ext cx="0" cy="753963"/>
            </a:xfrm>
            <a:prstGeom prst="line">
              <a:avLst/>
            </a:prstGeom>
            <a:noFill/>
            <a:ln w="28575">
              <a:solidFill>
                <a:srgbClr val="6B7280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715446" y="3025377"/>
              <a:ext cx="3857054" cy="8688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365"/>
                </a:lnSpc>
                <a:buNone/>
              </a:pPr>
              <a:r>
                <a:rPr lang="en-US" b="1" i="1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"If everything seems to be going well, you obviously don't know what's going on." </a:t>
              </a:r>
              <a:br>
                <a:rPr lang="en-US" b="1" i="1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</a:br>
              <a:r>
                <a:rPr lang="en-US" b="1" i="1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 Edward Murphy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Extended Thinking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92881"/>
            <a:ext cx="8382000" cy="415230"/>
          </a:xfrm>
          <a:prstGeom prst="roundRect">
            <a:avLst>
              <a:gd name="adj" fmla="val 11011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792881"/>
            <a:ext cx="0" cy="41523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907181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Thinking: Allocates more reasoning time (up to 32k tokens) for complex planning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360511"/>
            <a:ext cx="4133850" cy="2087761"/>
          </a:xfrm>
          <a:prstGeom prst="roundRect">
            <a:avLst>
              <a:gd name="adj" fmla="val 2190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1360511"/>
            <a:ext cx="0" cy="208776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2450" y="1493861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Extended Thinking For: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2450" y="1752822"/>
            <a:ext cx="3829050" cy="1562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planning with multiple trade-offs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problems without existing patterns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architectural or security decisions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requiring synthesis of multiple sources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29150" y="1493861"/>
            <a:ext cx="4133850" cy="1821061"/>
          </a:xfrm>
          <a:prstGeom prst="roundRect">
            <a:avLst>
              <a:gd name="adj" fmla="val 2511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48200" y="1493861"/>
            <a:ext cx="0" cy="182106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27211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When NOT to Use: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886172"/>
            <a:ext cx="3829050" cy="1295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well-defined tasks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implementations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Single-step problems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Time-sensitive quick decisions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3600672"/>
            <a:ext cx="8382000" cy="811411"/>
          </a:xfrm>
          <a:prstGeom prst="roundRect">
            <a:avLst>
              <a:gd name="adj" fmla="val 5635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600672"/>
            <a:ext cx="0" cy="81141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3714972"/>
            <a:ext cx="8277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Pattern: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3400" y="3924522"/>
            <a:ext cx="82776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carefully about [problem]. Consider multiple approaches, evaluate trade-offs, and identify risks before proposing a solution."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000" y="4431133"/>
            <a:ext cx="8382000" cy="670099"/>
          </a:xfrm>
          <a:prstGeom prst="roundRect">
            <a:avLst>
              <a:gd name="adj" fmla="val 11011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/>
          </a:p>
        </p:txBody>
      </p:sp>
      <p:sp>
        <p:nvSpPr>
          <p:cNvPr id="20" name="Shape 18"/>
          <p:cNvSpPr/>
          <p:nvPr/>
        </p:nvSpPr>
        <p:spPr>
          <a:xfrm>
            <a:off x="400050" y="4686002"/>
            <a:ext cx="0" cy="41523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3575" y="4523706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Extended thinking trades time for quality. </a:t>
            </a:r>
            <a:br>
              <a:rPr lang="en-US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thoroughness matters more than speed.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53673" y="285750"/>
            <a:ext cx="5236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Management: When to Compact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676275"/>
            <a:ext cx="81610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r>
              <a:rPr lang="en-US" sz="14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Planning generates substantial artifacts (Q&amp;A transcripts, comparison tables, critique feedback) that pollute context if not managed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1041797"/>
            <a:ext cx="8001000" cy="1401961"/>
          </a:xfrm>
          <a:prstGeom prst="roundRect">
            <a:avLst>
              <a:gd name="adj" fmla="val 3261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041797"/>
            <a:ext cx="0" cy="1401961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900" y="1156097"/>
            <a:ext cx="788898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Between Phases (After Q&amp;A → Before Exploration)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1396008"/>
            <a:ext cx="773430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generates verbose dialogue</a:t>
            </a:r>
            <a:endParaRPr lang="en-US" sz="1350" dirty="0"/>
          </a:p>
          <a:p>
            <a:pPr marL="95250" indent="-95250" algn="l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 preserves requirements summary</a:t>
            </a:r>
            <a:endParaRPr lang="en-US" sz="1350" dirty="0"/>
          </a:p>
          <a:p>
            <a:pPr marL="95250" indent="-95250" algn="l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needs clean context to search effectively</a:t>
            </a:r>
            <a:endParaRPr lang="en-US" sz="13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7F8FFB-0CB3-4969-A2C9-35145868D1A4}"/>
              </a:ext>
            </a:extLst>
          </p:cNvPr>
          <p:cNvGrpSpPr/>
          <p:nvPr/>
        </p:nvGrpSpPr>
        <p:grpSpPr>
          <a:xfrm>
            <a:off x="571500" y="2110086"/>
            <a:ext cx="8041386" cy="1735336"/>
            <a:chOff x="571500" y="2539008"/>
            <a:chExt cx="8041386" cy="1735336"/>
          </a:xfrm>
        </p:grpSpPr>
        <p:sp>
          <p:nvSpPr>
            <p:cNvPr id="9" name="Text 7"/>
            <p:cNvSpPr/>
            <p:nvPr/>
          </p:nvSpPr>
          <p:spPr>
            <a:xfrm>
              <a:off x="571500" y="2539008"/>
              <a:ext cx="8001000" cy="1735336"/>
            </a:xfrm>
            <a:prstGeom prst="roundRect">
              <a:avLst>
                <a:gd name="adj" fmla="val 2635"/>
              </a:avLst>
            </a:prstGeom>
            <a:solidFill>
              <a:srgbClr val="CCFBF1">
                <a:alpha val="6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spcAft>
                  <a:spcPts val="300"/>
                </a:spcAft>
                <a:buNone/>
              </a:pPr>
              <a:endParaRPr lang="en-US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90550" y="2539008"/>
              <a:ext cx="0" cy="1735336"/>
            </a:xfrm>
            <a:prstGeom prst="line">
              <a:avLst/>
            </a:prstGeom>
            <a:noFill/>
            <a:ln w="38100">
              <a:solidFill>
                <a:srgbClr val="14B8A6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23900" y="2653308"/>
              <a:ext cx="7888986" cy="182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200" b="1" dirty="0">
                  <a:solidFill>
                    <a:srgbClr val="0F76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 After Research (After Exploration → Before Options)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23900" y="2893219"/>
              <a:ext cx="7734300" cy="1266825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95250" indent="-95250" algn="l"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Exploration generates many file reads and search results</a:t>
              </a:r>
              <a:endParaRPr lang="en-US" sz="1350" dirty="0"/>
            </a:p>
            <a:p>
              <a:pPr marL="95250" indent="-95250" algn="l"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Compact before generating options</a:t>
              </a:r>
              <a:endParaRPr lang="en-US" sz="1350" dirty="0"/>
            </a:p>
            <a:p>
              <a:pPr marL="95250" indent="-95250" algn="l"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Preserve only comparison tables</a:t>
              </a:r>
              <a:endParaRPr lang="en-US" sz="1350" dirty="0"/>
            </a:p>
            <a:p>
              <a:pPr marL="95250" indent="-95250" algn="l"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Remove verbose grep/search outputs</a:t>
              </a:r>
              <a:endParaRPr lang="en-US" sz="135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571500" y="5885855"/>
            <a:ext cx="8001000" cy="415230"/>
          </a:xfrm>
          <a:prstGeom prst="roundRect">
            <a:avLst>
              <a:gd name="adj" fmla="val 11011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BB9653-E568-4D1E-96B6-FB0632803AC3}"/>
              </a:ext>
            </a:extLst>
          </p:cNvPr>
          <p:cNvGrpSpPr/>
          <p:nvPr/>
        </p:nvGrpSpPr>
        <p:grpSpPr>
          <a:xfrm>
            <a:off x="571500" y="3529905"/>
            <a:ext cx="8041386" cy="1401961"/>
            <a:chOff x="571500" y="4369594"/>
            <a:chExt cx="8041386" cy="1401961"/>
          </a:xfrm>
        </p:grpSpPr>
        <p:sp>
          <p:nvSpPr>
            <p:cNvPr id="13" name="Text 11"/>
            <p:cNvSpPr/>
            <p:nvPr/>
          </p:nvSpPr>
          <p:spPr>
            <a:xfrm>
              <a:off x="571500" y="4369594"/>
              <a:ext cx="8001000" cy="1401961"/>
            </a:xfrm>
            <a:prstGeom prst="roundRect">
              <a:avLst>
                <a:gd name="adj" fmla="val 3261"/>
              </a:avLst>
            </a:prstGeom>
            <a:solidFill>
              <a:srgbClr val="FEF3C7">
                <a:alpha val="6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spcAft>
                  <a:spcPts val="300"/>
                </a:spcAft>
                <a:buNone/>
              </a:pPr>
              <a:endParaRPr lang="en-US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90550" y="4369594"/>
              <a:ext cx="0" cy="1401961"/>
            </a:xfrm>
            <a:prstGeom prst="line">
              <a:avLst/>
            </a:prstGeom>
            <a:noFill/>
            <a:ln w="38100">
              <a:solidFill>
                <a:srgbClr val="F59E0B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723900" y="4483894"/>
              <a:ext cx="7888986" cy="182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200" b="1" dirty="0">
                  <a:solidFill>
                    <a:srgbClr val="B4530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3. Before Critique (Clear implementation details, keep requirements)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23900" y="4723805"/>
              <a:ext cx="7734300" cy="933450"/>
            </a:xfrm>
            <a:prstGeom prst="rect">
              <a:avLst/>
            </a:prstGeom>
            <a:noFill/>
            <a:ln/>
          </p:spPr>
          <p:txBody>
            <a:bodyPr wrap="square" lIns="95250" tIns="0" rIns="0" bIns="0" rtlCol="0" anchor="t"/>
            <a:lstStyle/>
            <a:p>
              <a:pPr marL="95250" indent="-95250" algn="l"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Critique evaluates plan against requirements</a:t>
              </a:r>
              <a:endParaRPr lang="en-US" sz="1350" dirty="0"/>
            </a:p>
            <a:p>
              <a:pPr marL="95250" indent="-95250" algn="l"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Don't get distracted by exploration artifacts</a:t>
              </a:r>
              <a:endParaRPr lang="en-US" sz="1350" dirty="0"/>
            </a:p>
            <a:p>
              <a:pPr marL="95250" indent="-95250" algn="l">
                <a:spcAft>
                  <a:spcPts val="3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1E3A8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Fresh perspective improves critique quality</a:t>
              </a:r>
              <a:endParaRPr lang="en-US" sz="1350" dirty="0"/>
            </a:p>
          </p:txBody>
        </p:sp>
      </p:grpSp>
      <p:sp>
        <p:nvSpPr>
          <p:cNvPr id="23" name="Text 18">
            <a:extLst>
              <a:ext uri="{FF2B5EF4-FFF2-40B4-BE49-F238E27FC236}">
                <a16:creationId xmlns:a16="http://schemas.microsoft.com/office/drawing/2014/main" id="{EBE38EFB-8EE9-457E-A855-C0DEC1191A49}"/>
              </a:ext>
            </a:extLst>
          </p:cNvPr>
          <p:cNvSpPr/>
          <p:nvPr/>
        </p:nvSpPr>
        <p:spPr>
          <a:xfrm>
            <a:off x="725043" y="4982394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19</a:t>
            </a:r>
            <a:endParaRPr lang="en-US" sz="1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4B5A20E-73A7-4100-B7D3-34C6143F0C8A}"/>
              </a:ext>
            </a:extLst>
          </p:cNvPr>
          <p:cNvGrpSpPr/>
          <p:nvPr/>
        </p:nvGrpSpPr>
        <p:grpSpPr>
          <a:xfrm>
            <a:off x="6152675" y="2110086"/>
            <a:ext cx="2800825" cy="752659"/>
            <a:chOff x="6473858" y="2777245"/>
            <a:chExt cx="2800825" cy="752659"/>
          </a:xfrm>
          <a:solidFill>
            <a:schemeClr val="bg1">
              <a:lumMod val="85000"/>
            </a:schemeClr>
          </a:solidFill>
        </p:grpSpPr>
        <p:sp>
          <p:nvSpPr>
            <p:cNvPr id="24" name="Shape 16">
              <a:extLst>
                <a:ext uri="{FF2B5EF4-FFF2-40B4-BE49-F238E27FC236}">
                  <a16:creationId xmlns:a16="http://schemas.microsoft.com/office/drawing/2014/main" id="{0F0EB5A4-9676-4C9E-9D29-F821708215F3}"/>
                </a:ext>
              </a:extLst>
            </p:cNvPr>
            <p:cNvSpPr/>
            <p:nvPr/>
          </p:nvSpPr>
          <p:spPr>
            <a:xfrm>
              <a:off x="6473858" y="2777245"/>
              <a:ext cx="0" cy="752659"/>
            </a:xfrm>
            <a:prstGeom prst="line">
              <a:avLst/>
            </a:prstGeom>
            <a:grpFill/>
            <a:ln w="38100">
              <a:solidFill>
                <a:srgbClr val="7C3AED"/>
              </a:solidFill>
              <a:prstDash val="solid"/>
            </a:ln>
          </p:spPr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120C0926-C9F4-425E-B211-C02F2027DE03}"/>
                </a:ext>
              </a:extLst>
            </p:cNvPr>
            <p:cNvSpPr/>
            <p:nvPr/>
          </p:nvSpPr>
          <p:spPr>
            <a:xfrm>
              <a:off x="6529865" y="2777245"/>
              <a:ext cx="2744818" cy="734203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300"/>
                </a:spcAft>
                <a:buNone/>
              </a:pPr>
              <a:r>
                <a:rPr lang="en-US" sz="1400" b="1" dirty="0">
                  <a:solidFill>
                    <a:srgbClr val="5B21B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Principle:</a:t>
              </a:r>
              <a:r>
                <a:rPr lang="en-US" sz="1400" dirty="0">
                  <a:solidFill>
                    <a:srgbClr val="5B21B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Context is a resource. Manage it deliberately between planning phases.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381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 Patterns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887909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Planning Sessions: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097459"/>
            <a:ext cx="4133850" cy="914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CLAUDE.md constraints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architecture docs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previous planning summaries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164259"/>
            <a:ext cx="4133850" cy="1125736"/>
          </a:xfrm>
          <a:prstGeom prst="roundRect">
            <a:avLst>
              <a:gd name="adj" fmla="val 406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775" y="2269034"/>
            <a:ext cx="4002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Q&amp;A Refinement: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85775" y="246905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5775" y="2667149"/>
            <a:ext cx="400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Preserved:</a:t>
            </a: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 summary (platform: GitHub Actions, coverage: 85%)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5775" y="302522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Cleared:</a:t>
            </a: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 rounds of Q&amp;A dialogue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442395"/>
            <a:ext cx="4133850" cy="965746"/>
          </a:xfrm>
          <a:prstGeom prst="roundRect">
            <a:avLst>
              <a:gd name="adj" fmla="val 473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5775" y="3547170"/>
            <a:ext cx="4002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Exploration: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5775" y="374719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775" y="394528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Preserved:</a:t>
            </a: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 comparison table (ruff: Use, black: Reject)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5775" y="414337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Cleared:</a:t>
            </a: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47 file reads, 12 grep searches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9150" y="647700"/>
            <a:ext cx="4133850" cy="1333500"/>
          </a:xfrm>
          <a:prstGeom prst="roundRect">
            <a:avLst>
              <a:gd name="adj" fmla="val 3429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8200" y="647700"/>
            <a:ext cx="0" cy="133350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2500" y="742950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Final Plan to File: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62500" y="952500"/>
            <a:ext cx="3905250" cy="9334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disappears; files persist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to .claude/plans/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file in future sessions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29150" y="213360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Budget by Phase: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29150" y="2343150"/>
            <a:ext cx="4133850" cy="2305050"/>
          </a:xfrm>
          <a:prstGeom prst="roundRect">
            <a:avLst>
              <a:gd name="adj" fmla="val 1983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38675" y="2352675"/>
            <a:ext cx="4114800" cy="381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662613" y="2352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8675" y="2728912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4875" y="2405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91313" y="2352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7375" y="2728912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3575" y="2405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96075" y="2728912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2275" y="2405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2613" y="2733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38675" y="3109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4875" y="2786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91313" y="2733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7375" y="3109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3575" y="2786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96075" y="3109913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72275" y="2786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 after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38675" y="3114675"/>
            <a:ext cx="4114800" cy="3810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662613" y="3114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8675" y="3490912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4875" y="3167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691313" y="3114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7375" y="3490912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3575" y="3167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696075" y="3490912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72275" y="3167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 table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662613" y="3495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38675" y="3871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4875" y="3548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691313" y="3495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7375" y="3871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3575" y="3548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696075" y="3871913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72275" y="3548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4638675" y="3876675"/>
            <a:ext cx="4114800" cy="3810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662613" y="3876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38675" y="4252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4875" y="3929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691313" y="3876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67375" y="4252913"/>
            <a:ext cx="10287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43575" y="3929063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6696075" y="4252913"/>
            <a:ext cx="2057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72275" y="3929063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5662613" y="4257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14875" y="4314825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6691313" y="4257675"/>
            <a:ext cx="0" cy="3810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43575" y="4314825"/>
            <a:ext cx="884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6772275" y="4314825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6250" y="895350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5300" y="895350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895350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Skipping Q&amp;A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0550" y="1152525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Jump to solution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wrong thing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 2-4 rounds of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447674" y="-923257"/>
            <a:ext cx="4147804" cy="403772"/>
          </a:xfrm>
          <a:prstGeom prst="roundRect">
            <a:avLst>
              <a:gd name="adj" fmla="val 15291"/>
            </a:avLst>
          </a:prstGeom>
          <a:solidFill>
            <a:srgbClr val="E5E7EB">
              <a:alpha val="7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19D05B5-F486-471E-B552-C5B1AB759980}"/>
              </a:ext>
            </a:extLst>
          </p:cNvPr>
          <p:cNvGrpSpPr/>
          <p:nvPr/>
        </p:nvGrpSpPr>
        <p:grpSpPr>
          <a:xfrm>
            <a:off x="2215337" y="4210050"/>
            <a:ext cx="4223560" cy="568445"/>
            <a:chOff x="-257840" y="-992309"/>
            <a:chExt cx="4223560" cy="56844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9" name="Shape 7"/>
            <p:cNvSpPr/>
            <p:nvPr/>
          </p:nvSpPr>
          <p:spPr>
            <a:xfrm>
              <a:off x="-257840" y="-992309"/>
              <a:ext cx="0" cy="568445"/>
            </a:xfrm>
            <a:prstGeom prst="line">
              <a:avLst/>
            </a:prstGeom>
            <a:grpFill/>
            <a:ln w="38100">
              <a:solidFill>
                <a:srgbClr val="6B728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-161925" y="-884933"/>
              <a:ext cx="4127645" cy="40377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4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💡 </a:t>
              </a:r>
              <a:r>
                <a:rPr lang="en-US" sz="1400" b="1" i="1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 Tip:</a:t>
              </a:r>
              <a:r>
                <a:rPr lang="en-US" sz="14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Skip Q&amp;A and go straight to coding. What could go wrong? </a:t>
              </a:r>
              <a:r>
                <a:rPr lang="en-US" sz="1400" b="1" i="1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(URL: https://Road to Hell)</a:t>
              </a:r>
              <a:endParaRPr lang="en-US" sz="14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476250" y="1438722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5300" y="1438722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" y="1427039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Accepting First Plan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0550" y="169589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 critique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 alternatives, ignore risks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Request explicit critique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" y="1998762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95300" y="1998762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" y="1988903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 Success Criteria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0550" y="225593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Vague "done" definition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Scope creeps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verification steps with metrics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50" y="2558802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95300" y="2558802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550" y="2558802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Planning in Isolation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0550" y="281597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without research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Architectural inconsistency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Explore agent 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250" y="3118843"/>
            <a:ext cx="8191500" cy="493365"/>
          </a:xfrm>
          <a:prstGeom prst="roundRect">
            <a:avLst>
              <a:gd name="adj" fmla="val 9267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95300" y="3118843"/>
            <a:ext cx="0" cy="49336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550" y="3099792"/>
            <a:ext cx="8161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5"/>
              </a:spcAft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Over-Planning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0550" y="3376018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 edge cases that don't exist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paralysis • </a:t>
            </a: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 80% case first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250" y="3697933"/>
            <a:ext cx="8191500" cy="415230"/>
          </a:xfrm>
          <a:prstGeom prst="roundRect">
            <a:avLst>
              <a:gd name="adj" fmla="val 11011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495300" y="3697933"/>
            <a:ext cx="0" cy="41523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650" y="381223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r>
              <a:rPr lang="en-US" sz="1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These mistakes are all preventable with discipline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13186" y="285750"/>
            <a:ext cx="79176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 Guide: When to Use Each Agent Type: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81610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716826"/>
            <a:ext cx="8001000" cy="2933700"/>
          </a:xfrm>
          <a:prstGeom prst="roundRect">
            <a:avLst>
              <a:gd name="adj" fmla="val 1558"/>
            </a:avLst>
          </a:prstGeom>
          <a:noFill/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726351"/>
            <a:ext cx="798195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172593" y="726351"/>
            <a:ext cx="0" cy="5715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1293088"/>
            <a:ext cx="15963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275" y="873988"/>
            <a:ext cx="1424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Type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05710" y="726351"/>
            <a:ext cx="0" cy="5715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7355" y="1293088"/>
            <a:ext cx="303311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2605" y="873988"/>
            <a:ext cx="2889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10473" y="1293088"/>
            <a:ext cx="3352354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5723" y="873988"/>
            <a:ext cx="32250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Task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172593" y="1297851"/>
            <a:ext cx="0" cy="6953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1988413"/>
            <a:ext cx="15963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275" y="1507401"/>
            <a:ext cx="1424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205710" y="1297851"/>
            <a:ext cx="0" cy="6953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77355" y="1988413"/>
            <a:ext cx="303311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2605" y="1374051"/>
            <a:ext cx="28897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existing patterns, searching implementations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10473" y="1988413"/>
            <a:ext cx="3352354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5723" y="1374051"/>
            <a:ext cx="322509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does caching work in this codebase?"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1025" y="1993176"/>
            <a:ext cx="7981950" cy="96202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172593" y="1993176"/>
            <a:ext cx="0" cy="9620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025" y="2950438"/>
            <a:ext cx="159633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75" y="2336076"/>
            <a:ext cx="1424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205710" y="1993176"/>
            <a:ext cx="0" cy="9620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77355" y="2950438"/>
            <a:ext cx="303311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72605" y="2069376"/>
            <a:ext cx="288975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implementation, evaluating alternatives, creating checklists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210473" y="2950438"/>
            <a:ext cx="3352354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5723" y="2202726"/>
            <a:ext cx="322509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"Plan DevOps tooling with comparison table"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172593" y="2955201"/>
            <a:ext cx="0" cy="685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275" y="3164751"/>
            <a:ext cx="14242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205710" y="2955201"/>
            <a:ext cx="0" cy="68580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72605" y="3031401"/>
            <a:ext cx="28897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research + implementation, single-step tasks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05723" y="3164751"/>
            <a:ext cx="32250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NOT operator bug"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71500" y="3606850"/>
            <a:ext cx="8001000" cy="1409700"/>
          </a:xfrm>
          <a:prstGeom prst="roundRect">
            <a:avLst>
              <a:gd name="adj" fmla="val 3243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90550" y="3606850"/>
            <a:ext cx="0" cy="140970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3900" y="3721150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3900" y="3949750"/>
            <a:ext cx="7734300" cy="952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understand existing code? → Explore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design new feature with alternatives? → Plan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fix or research + implementation? → General</a:t>
            </a:r>
            <a:endParaRPr lang="en-US" sz="135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13B0D9B-FF31-4BCA-886D-58865239C0E7}"/>
              </a:ext>
            </a:extLst>
          </p:cNvPr>
          <p:cNvGrpSpPr/>
          <p:nvPr/>
        </p:nvGrpSpPr>
        <p:grpSpPr>
          <a:xfrm>
            <a:off x="6210301" y="3781118"/>
            <a:ext cx="2838450" cy="826670"/>
            <a:chOff x="571500" y="5878711"/>
            <a:chExt cx="8041386" cy="415230"/>
          </a:xfrm>
        </p:grpSpPr>
        <p:sp>
          <p:nvSpPr>
            <p:cNvPr id="41" name="Text 39"/>
            <p:cNvSpPr/>
            <p:nvPr/>
          </p:nvSpPr>
          <p:spPr>
            <a:xfrm>
              <a:off x="571500" y="5926708"/>
              <a:ext cx="8001001" cy="367232"/>
            </a:xfrm>
            <a:prstGeom prst="roundRect">
              <a:avLst>
                <a:gd name="adj" fmla="val 11011"/>
              </a:avLst>
            </a:prstGeom>
            <a:solidFill>
              <a:srgbClr val="FEF3C7">
                <a:alpha val="60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90550" y="5878711"/>
              <a:ext cx="0" cy="415230"/>
            </a:xfrm>
            <a:prstGeom prst="line">
              <a:avLst/>
            </a:prstGeom>
            <a:noFill/>
            <a:ln w="38100">
              <a:solidFill>
                <a:srgbClr val="F59E0B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723900" y="5993011"/>
              <a:ext cx="7888986" cy="186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70"/>
                </a:lnSpc>
                <a:buNone/>
              </a:pPr>
              <a:r>
                <a:rPr lang="en-US" sz="1600" b="1" dirty="0">
                  <a:solidFill>
                    <a:srgbClr val="B4530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Principle:</a:t>
              </a:r>
              <a:r>
                <a:rPr lang="en-US" sz="1600" dirty="0">
                  <a:solidFill>
                    <a:srgbClr val="B4530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Match the agent to the task type. Wrong agent = inefficient workflow.</a:t>
              </a:r>
              <a:endParaRPr lang="en-US" sz="1600" dirty="0"/>
            </a:p>
          </p:txBody>
        </p:sp>
      </p:grpSp>
      <p:sp>
        <p:nvSpPr>
          <p:cNvPr id="44" name="Text 42"/>
          <p:cNvSpPr/>
          <p:nvPr/>
        </p:nvSpPr>
        <p:spPr>
          <a:xfrm>
            <a:off x="182880" y="4954893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Best Practices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6250" y="1236166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95300" y="1236166"/>
            <a:ext cx="0" cy="31239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31236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 Extended Thinking:</a:t>
            </a:r>
            <a:r>
              <a:rPr lang="en-US" sz="16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trade-offs, novel problems, critical decisions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6250" y="1605706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FEE2E2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95300" y="1605706"/>
            <a:ext cx="0" cy="31239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550" y="1681905"/>
            <a:ext cx="9667996" cy="189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Avoid 5 Mistakes:</a:t>
            </a:r>
            <a:r>
              <a:rPr lang="en-US" sz="16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Skipping Q&amp;A, accepting first plan, no criteria, isolation, </a:t>
            </a:r>
            <a:r>
              <a:rPr lang="en-US" sz="1600" dirty="0" err="1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overplanning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" y="1975246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CCFBF1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95300" y="1975246"/>
            <a:ext cx="0" cy="31239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550" y="205144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Choose Right Tool:</a:t>
            </a:r>
            <a:r>
              <a:rPr lang="en-US" sz="16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Explore (find patterns), Plan (design alternatives), General (mixed)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" y="2344787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495300" y="2344787"/>
            <a:ext cx="0" cy="31239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550" y="242098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Manage Context:</a:t>
            </a:r>
            <a:r>
              <a:rPr lang="en-US" sz="16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/compact after Q&amp;A, /compact after exploration, document to file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250" y="2714327"/>
            <a:ext cx="8191500" cy="312390"/>
          </a:xfrm>
          <a:prstGeom prst="roundRect">
            <a:avLst>
              <a:gd name="adj" fmla="val 14636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495300" y="2714327"/>
            <a:ext cx="0" cy="31239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550" y="279052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Expect huge ROI:</a:t>
            </a:r>
            <a:r>
              <a:rPr lang="en-US" sz="1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minutes planning prevents weeks of work/rework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6250" y="3121967"/>
            <a:ext cx="8191500" cy="955328"/>
          </a:xfrm>
          <a:prstGeom prst="roundRect">
            <a:avLst>
              <a:gd name="adj" fmla="val 8305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495300" y="3121967"/>
            <a:ext cx="0" cy="55051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" y="3217217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75"/>
              </a:spcAft>
              <a:buNone/>
            </a:pPr>
            <a:r>
              <a:rPr lang="en-US" sz="2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9412" y="3661989"/>
            <a:ext cx="8122158" cy="621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change - that's fine. Value is in planning (questioning, exploring, finding risks), not the plan artifact.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A: Quick Reference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939254"/>
            <a:ext cx="4133850" cy="2964061"/>
          </a:xfrm>
          <a:prstGeom prst="roundRect">
            <a:avLst>
              <a:gd name="adj" fmla="val 1542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39254"/>
            <a:ext cx="0" cy="296406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1072604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Pre-Implementation Checklist: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2450" y="1331565"/>
            <a:ext cx="3829050" cy="24384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Requirements clarified through Q&amp;A (2-4 rounds)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Alternatives explored (comparison table created)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Plan critiqued (explicit "find problems" prompt)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Success criteria defined (verification steps)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Execution checklist created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960465"/>
            <a:ext cx="4133850" cy="415230"/>
          </a:xfrm>
          <a:prstGeom prst="roundRect">
            <a:avLst>
              <a:gd name="adj" fmla="val 11011"/>
            </a:avLst>
          </a:prstGeom>
          <a:solidFill>
            <a:srgbClr val="DBEA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3960465"/>
            <a:ext cx="0" cy="41523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4074765"/>
            <a:ext cx="3944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One-page reference for every planning session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9150" y="735062"/>
            <a:ext cx="42165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Five-Phase Cycle: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9150" y="1051173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33925" y="1155948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Q&amp;A Refinement</a:t>
            </a: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Clarify requirements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1561654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1666429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Exploration</a:t>
            </a: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Research alternatives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29150" y="2072134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33925" y="2176909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Option Generation</a:t>
            </a: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Create 2-4 approaches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9150" y="2582614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3925" y="2687389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Critique</a:t>
            </a: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Find flaws and risks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9150" y="3093095"/>
            <a:ext cx="4133850" cy="396180"/>
          </a:xfrm>
          <a:prstGeom prst="roundRect">
            <a:avLst>
              <a:gd name="adj" fmla="val 1154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3925" y="3197870"/>
            <a:ext cx="40027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Finalization</a:t>
            </a: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Create execution checklist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29150" y="3641675"/>
            <a:ext cx="4133850" cy="938213"/>
          </a:xfrm>
          <a:prstGeom prst="roundRect">
            <a:avLst>
              <a:gd name="adj" fmla="val 4873"/>
            </a:avLst>
          </a:prstGeom>
          <a:solidFill>
            <a:srgbClr val="FEF3C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48200" y="3641675"/>
            <a:ext cx="0" cy="93821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2500" y="37369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62500" y="3927425"/>
            <a:ext cx="398335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Q&amp;A: Requirements clear?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Critique: Major issues?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Finalize: Approved?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381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66582" y="285750"/>
            <a:ext cx="44108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 - Quick Reference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1253579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Constraint-Based (Multi-option decisions)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444079"/>
            <a:ext cx="4133850" cy="811411"/>
          </a:xfrm>
          <a:prstGeom prst="roundRect">
            <a:avLst>
              <a:gd name="adj" fmla="val 563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529804"/>
            <a:ext cx="404164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[current state]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Request: [what you want]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Constraints: [boundaries]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Guidance: [how to evaluate]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293590"/>
            <a:ext cx="4216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Eliminates 80% of options upfront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58693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Critique Request (Finding flaws)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777430"/>
            <a:ext cx="4133850" cy="971401"/>
          </a:xfrm>
          <a:prstGeom prst="roundRect">
            <a:avLst>
              <a:gd name="adj" fmla="val 470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725" y="2863155"/>
            <a:ext cx="4041648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this plan and identify: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 Wrong assumptions?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 What could fail?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 Alternative approaches?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4. Hidden costs?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786932"/>
            <a:ext cx="4216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Explicit "find problems" triggers critical thinking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29150" y="1184077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Exploration Pattern (Comparing options)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29150" y="1374577"/>
            <a:ext cx="4133850" cy="971401"/>
          </a:xfrm>
          <a:prstGeom prst="roundRect">
            <a:avLst>
              <a:gd name="adj" fmla="val 470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14875" y="1460302"/>
            <a:ext cx="4041648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[topic] and create comparison: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Tool name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Purpose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Pros/Cons</a:t>
            </a:r>
            <a:endParaRPr lang="en-US" sz="90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Verdict (Use/Defer/Reject with rationale)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2384078"/>
            <a:ext cx="4216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Table format forces structured thinking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9150" y="2677418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Extended Thinking (Complex decisions)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29150" y="2867918"/>
            <a:ext cx="4133850" cy="491430"/>
          </a:xfrm>
          <a:prstGeom prst="roundRect">
            <a:avLst>
              <a:gd name="adj" fmla="val 930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14875" y="2953643"/>
            <a:ext cx="4041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carefully about [problem]. Consider multiple approaches, evaluate trade-offs, identify risks."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3397448"/>
            <a:ext cx="42165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Allocates more reasoning time for thorough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3728889"/>
            <a:ext cx="4133850" cy="363736"/>
          </a:xfrm>
          <a:prstGeom prst="roundRect">
            <a:avLst>
              <a:gd name="adj" fmla="val 12570"/>
            </a:avLst>
          </a:prstGeom>
          <a:solidFill>
            <a:srgbClr val="DCFCE7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3728889"/>
            <a:ext cx="0" cy="36373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2500" y="382413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Usage:</a:t>
            </a:r>
            <a:r>
              <a:rPr lang="en-US" sz="9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Copy these templates for consistent planning quality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90500"/>
            <a:ext cx="8763000" cy="4572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9732" y="2857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Next Steps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52500"/>
            <a:ext cx="81610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Official Resources: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253430"/>
            <a:ext cx="8161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Thinking Documentation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71500" y="145345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and how to use extended reasoning (up to 32k tokens)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1659136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platform.claude.com/docs/extended-thinking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71500" y="1927622"/>
            <a:ext cx="8161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Best Practices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71500" y="2127647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guide for using Claude Code effectively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2333327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anthropic.com/engineering/claude-code-best-practices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71500" y="2601813"/>
            <a:ext cx="8161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Guide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1500" y="2801838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prompting techniques and patterns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1500" y="3007519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platform.claude.com/docs/prompt-engineering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71500" y="3276005"/>
            <a:ext cx="81610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Prompt Engineering Blog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71500" y="347603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planning best practices with examples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1500" y="368171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aws.amazon.com/blogs/machine-learning/prompt-engineering-claude-3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71500" y="4007346"/>
            <a:ext cx="8001000" cy="2047726"/>
          </a:xfrm>
          <a:prstGeom prst="roundRect">
            <a:avLst>
              <a:gd name="adj" fmla="val 2233"/>
            </a:avLst>
          </a:prstGeom>
          <a:solidFill>
            <a:srgbClr val="EDE9FE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0550" y="4007346"/>
            <a:ext cx="0" cy="204772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950" y="4140696"/>
            <a:ext cx="785012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Next: Appendix B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42950" y="4411117"/>
            <a:ext cx="7850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Claude Code Labs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2950" y="4654897"/>
            <a:ext cx="7696200" cy="12668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hands-on labs with real prompts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actual outputs (good and bad)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 CLI File Organizer project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by doing, not just reading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4563" y="1198215"/>
            <a:ext cx="5414873" cy="762000"/>
          </a:xfrm>
          <a:prstGeom prst="rect">
            <a:avLst/>
          </a:prstGeom>
          <a:noFill/>
          <a:ln/>
        </p:spPr>
        <p:txBody>
          <a:bodyPr wrap="square" lIns="0" tIns="152400" rIns="0" bIns="152400" rtlCol="0" anchor="t"/>
          <a:lstStyle/>
          <a:p>
            <a:pPr marL="0" indent="0" algn="ctr">
              <a:lnSpc>
                <a:spcPts val="3600"/>
              </a:lnSpc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Go Plan Something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8250" y="2455515"/>
            <a:ext cx="6667500" cy="1489621"/>
          </a:xfrm>
          <a:prstGeom prst="roundRect">
            <a:avLst>
              <a:gd name="adj" fmla="val 7673"/>
            </a:avLst>
          </a:prstGeom>
          <a:solidFill>
            <a:srgbClr val="DBEAFE">
              <a:alpha val="40000"/>
            </a:srgbClr>
          </a:solidFill>
          <a:ln w="28575">
            <a:solidFill>
              <a:srgbClr val="1E3A8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11618" y="2712690"/>
            <a:ext cx="61207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don't have time to do it right, </a:t>
            </a:r>
            <a:br>
              <a:rPr lang="en-US" sz="20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b="1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will you have time to do it over?"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11618" y="3474690"/>
            <a:ext cx="61207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John Wooden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7180" y="4921300"/>
            <a:ext cx="85496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MRSL, Inc. | LLM Planning Tutorial | 28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AF703A-EFB2-4DDE-ACDC-3FF71DC89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886" y="297802"/>
            <a:ext cx="2890164" cy="600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043AB9-2189-4D16-80AE-5D011DCD4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430885">
            <a:off x="7454226" y="1445180"/>
            <a:ext cx="686284" cy="6361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3766</Words>
  <Application>Microsoft Office PowerPoint</Application>
  <PresentationFormat>On-screen Show (16:9)</PresentationFormat>
  <Paragraphs>535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Planning Tutorial</dc:title>
  <dc:subject>PptxGenJS Presentation</dc:subject>
  <dc:creator>Dr. Chris Braun</dc:creator>
  <cp:lastModifiedBy>Braun, Chris</cp:lastModifiedBy>
  <cp:revision>11</cp:revision>
  <dcterms:created xsi:type="dcterms:W3CDTF">2026-01-28T03:49:43Z</dcterms:created>
  <dcterms:modified xsi:type="dcterms:W3CDTF">2026-01-28T17:45:35Z</dcterms:modified>
</cp:coreProperties>
</file>